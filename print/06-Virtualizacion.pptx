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7" r:id="rId3"/>
    <p:sldId id="389" r:id="rId4"/>
    <p:sldId id="317" r:id="rId5"/>
    <p:sldId id="390" r:id="rId6"/>
    <p:sldId id="391" r:id="rId7"/>
    <p:sldId id="392" r:id="rId8"/>
    <p:sldId id="393" r:id="rId9"/>
    <p:sldId id="394" r:id="rId10"/>
    <p:sldId id="398" r:id="rId11"/>
    <p:sldId id="399" r:id="rId12"/>
    <p:sldId id="395" r:id="rId13"/>
    <p:sldId id="396" r:id="rId14"/>
    <p:sldId id="397" r:id="rId15"/>
    <p:sldId id="400" r:id="rId16"/>
    <p:sldId id="401" r:id="rId17"/>
    <p:sldId id="402" r:id="rId18"/>
    <p:sldId id="403" r:id="rId19"/>
    <p:sldId id="405" r:id="rId20"/>
    <p:sldId id="406" r:id="rId21"/>
    <p:sldId id="407" r:id="rId22"/>
    <p:sldId id="404" r:id="rId23"/>
    <p:sldId id="408" r:id="rId24"/>
    <p:sldId id="409" r:id="rId25"/>
    <p:sldId id="410" r:id="rId26"/>
    <p:sldId id="261" r:id="rId2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3" d="100"/>
          <a:sy n="73" d="100"/>
        </p:scale>
        <p:origin x="5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AR"/>
          </a:p>
        </p:txBody>
      </p:sp>
      <p:sp>
        <p:nvSpPr>
          <p:cNvPr id="4" name="Marcador de fecha 3"/>
          <p:cNvSpPr>
            <a:spLocks noGrp="1"/>
          </p:cNvSpPr>
          <p:nvPr>
            <p:ph type="dt" sz="half" idx="10"/>
          </p:nvPr>
        </p:nvSpPr>
        <p:spPr/>
        <p:txBody>
          <a:bodyPr/>
          <a:lstStyle/>
          <a:p>
            <a:fld id="{04E2C9AE-2169-4CFF-9D7D-56E221A92E25}" type="datetimeFigureOut">
              <a:rPr lang="es-AR" smtClean="0"/>
              <a:t>4/11/2021</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3026340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04E2C9AE-2169-4CFF-9D7D-56E221A92E25}" type="datetimeFigureOut">
              <a:rPr lang="es-AR" smtClean="0"/>
              <a:t>4/11/2021</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3108122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04E2C9AE-2169-4CFF-9D7D-56E221A92E25}" type="datetimeFigureOut">
              <a:rPr lang="es-AR" smtClean="0"/>
              <a:t>4/11/2021</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1579228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fecha 4"/>
          <p:cNvSpPr>
            <a:spLocks noGrp="1"/>
          </p:cNvSpPr>
          <p:nvPr>
            <p:ph type="dt" sz="half" idx="10"/>
          </p:nvPr>
        </p:nvSpPr>
        <p:spPr/>
        <p:txBody>
          <a:bodyPr/>
          <a:lstStyle/>
          <a:p>
            <a:fld id="{04E2C9AE-2169-4CFF-9D7D-56E221A92E25}" type="datetimeFigureOut">
              <a:rPr lang="es-AR" smtClean="0"/>
              <a:t>4/11/2021</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386600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Marcador de fecha 6"/>
          <p:cNvSpPr>
            <a:spLocks noGrp="1"/>
          </p:cNvSpPr>
          <p:nvPr>
            <p:ph type="dt" sz="half" idx="10"/>
          </p:nvPr>
        </p:nvSpPr>
        <p:spPr/>
        <p:txBody>
          <a:bodyPr/>
          <a:lstStyle/>
          <a:p>
            <a:fld id="{04E2C9AE-2169-4CFF-9D7D-56E221A92E25}" type="datetimeFigureOut">
              <a:rPr lang="es-AR" smtClean="0"/>
              <a:t>4/11/2021</a:t>
            </a:fld>
            <a:endParaRPr lang="es-AR"/>
          </a:p>
        </p:txBody>
      </p:sp>
      <p:sp>
        <p:nvSpPr>
          <p:cNvPr id="8" name="Marcador de pie de página 7"/>
          <p:cNvSpPr>
            <a:spLocks noGrp="1"/>
          </p:cNvSpPr>
          <p:nvPr>
            <p:ph type="ftr" sz="quarter" idx="11"/>
          </p:nvPr>
        </p:nvSpPr>
        <p:spPr/>
        <p:txBody>
          <a:bodyPr/>
          <a:lstStyle/>
          <a:p>
            <a:endParaRPr lang="es-AR"/>
          </a:p>
        </p:txBody>
      </p:sp>
      <p:sp>
        <p:nvSpPr>
          <p:cNvPr id="9" name="Marcador de número de diapositiva 8"/>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2492876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fecha 2"/>
          <p:cNvSpPr>
            <a:spLocks noGrp="1"/>
          </p:cNvSpPr>
          <p:nvPr>
            <p:ph type="dt" sz="half" idx="10"/>
          </p:nvPr>
        </p:nvSpPr>
        <p:spPr/>
        <p:txBody>
          <a:bodyPr/>
          <a:lstStyle/>
          <a:p>
            <a:fld id="{04E2C9AE-2169-4CFF-9D7D-56E221A92E25}" type="datetimeFigureOut">
              <a:rPr lang="es-AR" smtClean="0"/>
              <a:t>4/11/2021</a:t>
            </a:fld>
            <a:endParaRPr lang="es-AR"/>
          </a:p>
        </p:txBody>
      </p:sp>
      <p:sp>
        <p:nvSpPr>
          <p:cNvPr id="4" name="Marcador de pie de página 3"/>
          <p:cNvSpPr>
            <a:spLocks noGrp="1"/>
          </p:cNvSpPr>
          <p:nvPr>
            <p:ph type="ftr" sz="quarter" idx="11"/>
          </p:nvPr>
        </p:nvSpPr>
        <p:spPr/>
        <p:txBody>
          <a:bodyPr/>
          <a:lstStyle/>
          <a:p>
            <a:endParaRPr lang="es-AR"/>
          </a:p>
        </p:txBody>
      </p:sp>
      <p:sp>
        <p:nvSpPr>
          <p:cNvPr id="5" name="Marcador de número de diapositiva 4"/>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87768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4E2C9AE-2169-4CFF-9D7D-56E221A92E25}" type="datetimeFigureOut">
              <a:rPr lang="es-AR" smtClean="0"/>
              <a:t>4/11/2021</a:t>
            </a:fld>
            <a:endParaRPr lang="es-AR"/>
          </a:p>
        </p:txBody>
      </p:sp>
      <p:sp>
        <p:nvSpPr>
          <p:cNvPr id="3" name="Marcador de pie de página 2"/>
          <p:cNvSpPr>
            <a:spLocks noGrp="1"/>
          </p:cNvSpPr>
          <p:nvPr>
            <p:ph type="ftr" sz="quarter" idx="11"/>
          </p:nvPr>
        </p:nvSpPr>
        <p:spPr/>
        <p:txBody>
          <a:bodyPr/>
          <a:lstStyle/>
          <a:p>
            <a:endParaRPr lang="es-AR"/>
          </a:p>
        </p:txBody>
      </p:sp>
      <p:sp>
        <p:nvSpPr>
          <p:cNvPr id="4" name="Marcador de número de diapositiva 3"/>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1725079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4E2C9AE-2169-4CFF-9D7D-56E221A92E25}" type="datetimeFigureOut">
              <a:rPr lang="es-AR" smtClean="0"/>
              <a:t>4/11/2021</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632962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04E2C9AE-2169-4CFF-9D7D-56E221A92E25}" type="datetimeFigureOut">
              <a:rPr lang="es-AR" smtClean="0"/>
              <a:t>4/11/2021</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506098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04E2C9AE-2169-4CFF-9D7D-56E221A92E25}" type="datetimeFigureOut">
              <a:rPr lang="es-AR" smtClean="0"/>
              <a:t>4/11/2021</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1783270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10"/>
          </p:nvPr>
        </p:nvSpPr>
        <p:spPr/>
        <p:txBody>
          <a:bodyPr/>
          <a:lstStyle/>
          <a:p>
            <a:fld id="{04E2C9AE-2169-4CFF-9D7D-56E221A92E25}" type="datetimeFigureOut">
              <a:rPr lang="es-AR" smtClean="0"/>
              <a:t>4/11/2021</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161021F1-E4A3-426A-8EC7-8139A3406710}" type="slidenum">
              <a:rPr lang="es-AR" smtClean="0"/>
              <a:t>‹Nº›</a:t>
            </a:fld>
            <a:endParaRPr lang="es-AR"/>
          </a:p>
        </p:txBody>
      </p:sp>
    </p:spTree>
    <p:extLst>
      <p:ext uri="{BB962C8B-B14F-4D97-AF65-F5344CB8AC3E}">
        <p14:creationId xmlns:p14="http://schemas.microsoft.com/office/powerpoint/2010/main" val="2581087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2C9AE-2169-4CFF-9D7D-56E221A92E25}" type="datetimeFigureOut">
              <a:rPr lang="es-AR" smtClean="0"/>
              <a:t>4/11/2021</a:t>
            </a:fld>
            <a:endParaRPr lang="es-A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1021F1-E4A3-426A-8EC7-8139A3406710}" type="slidenum">
              <a:rPr lang="es-AR" smtClean="0"/>
              <a:t>‹Nº›</a:t>
            </a:fld>
            <a:endParaRPr lang="es-AR"/>
          </a:p>
        </p:txBody>
      </p:sp>
    </p:spTree>
    <p:extLst>
      <p:ext uri="{BB962C8B-B14F-4D97-AF65-F5344CB8AC3E}">
        <p14:creationId xmlns:p14="http://schemas.microsoft.com/office/powerpoint/2010/main" val="422503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searchservervirtualization.techtarget.com/feature/Whats-the-difference-between-Type-1-and-Type-2-hypervisors" TargetMode="External"/><Relationship Id="rId2" Type="http://schemas.openxmlformats.org/officeDocument/2006/relationships/hyperlink" Target="https://azure.microsoft.com/es-es/overview/what-is-a-virtual-machine/" TargetMode="External"/><Relationship Id="rId1" Type="http://schemas.openxmlformats.org/officeDocument/2006/relationships/slideLayout" Target="../slideLayouts/slideLayout2.xml"/><Relationship Id="rId6" Type="http://schemas.openxmlformats.org/officeDocument/2006/relationships/hyperlink" Target="https://insights.sei.cmu.edu/blog/virtualization-via-containers/#:~:text=A%20hybrid%20container%20architecture%20is,also%20known%20as%20hybrid%20containerization" TargetMode="External"/><Relationship Id="rId5" Type="http://schemas.openxmlformats.org/officeDocument/2006/relationships/hyperlink" Target="https://blog.techdata.com/ts/latam/tecnolog%C3%ADa-de-contenedores-movi%C3%A9ndose-en-un-flujo-continuo" TargetMode="External"/><Relationship Id="rId4" Type="http://schemas.openxmlformats.org/officeDocument/2006/relationships/hyperlink" Target="https://www.dnsstuff.com/what-is-hyperviso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7566"/>
            <a:ext cx="9144000" cy="1900071"/>
          </a:xfrm>
        </p:spPr>
        <p:txBody>
          <a:bodyPr>
            <a:normAutofit fontScale="90000"/>
          </a:bodyPr>
          <a:lstStyle/>
          <a:p>
            <a:r>
              <a:rPr lang="es-AR" sz="7200" smtClean="0">
                <a:solidFill>
                  <a:schemeClr val="bg1"/>
                </a:solidFill>
                <a:latin typeface="Agency FB" panose="020B0503020202020204" pitchFamily="34" charset="0"/>
              </a:rPr>
              <a:t>Virtualización, Contenedores y Computación en la Nube</a:t>
            </a:r>
            <a:endParaRPr lang="es-AR" sz="4800">
              <a:solidFill>
                <a:schemeClr val="bg1"/>
              </a:solidFill>
              <a:latin typeface="Agency FB" panose="020B0503020202020204" pitchFamily="34" charset="0"/>
            </a:endParaRPr>
          </a:p>
        </p:txBody>
      </p:sp>
      <p:sp>
        <p:nvSpPr>
          <p:cNvPr id="3" name="Subtítulo 2"/>
          <p:cNvSpPr>
            <a:spLocks noGrp="1"/>
          </p:cNvSpPr>
          <p:nvPr>
            <p:ph type="subTitle" idx="1"/>
          </p:nvPr>
        </p:nvSpPr>
        <p:spPr>
          <a:xfrm>
            <a:off x="1524000" y="2357273"/>
            <a:ext cx="9144000" cy="827208"/>
          </a:xfrm>
        </p:spPr>
        <p:txBody>
          <a:bodyPr/>
          <a:lstStyle/>
          <a:p>
            <a:r>
              <a:rPr lang="es-AR" b="1" smtClean="0">
                <a:solidFill>
                  <a:schemeClr val="bg1"/>
                </a:solidFill>
              </a:rPr>
              <a:t>Docente: </a:t>
            </a:r>
            <a:r>
              <a:rPr lang="es-AR" b="1" err="1" smtClean="0">
                <a:solidFill>
                  <a:schemeClr val="bg1"/>
                </a:solidFill>
              </a:rPr>
              <a:t>Agoston</a:t>
            </a:r>
            <a:r>
              <a:rPr lang="es-AR" b="1" smtClean="0">
                <a:solidFill>
                  <a:schemeClr val="bg1"/>
                </a:solidFill>
              </a:rPr>
              <a:t> Damián</a:t>
            </a:r>
            <a:endParaRPr lang="es-AR" b="1">
              <a:solidFill>
                <a:schemeClr val="bg1"/>
              </a:solidFill>
            </a:endParaRPr>
          </a:p>
        </p:txBody>
      </p:sp>
    </p:spTree>
    <p:extLst>
      <p:ext uri="{BB962C8B-B14F-4D97-AF65-F5344CB8AC3E}">
        <p14:creationId xmlns:p14="http://schemas.microsoft.com/office/powerpoint/2010/main" val="994715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110343" y="1959681"/>
            <a:ext cx="10554787" cy="4401205"/>
          </a:xfrm>
          <a:prstGeom prst="rect">
            <a:avLst/>
          </a:prstGeom>
        </p:spPr>
        <p:txBody>
          <a:bodyPr wrap="square">
            <a:spAutoFit/>
          </a:bodyPr>
          <a:lstStyle/>
          <a:p>
            <a:r>
              <a:rPr lang="en-US" sz="4000" smtClean="0">
                <a:latin typeface="Lucida Console" panose="020B0609040504020204" pitchFamily="49" charset="0"/>
              </a:rPr>
              <a:t>La </a:t>
            </a:r>
            <a:r>
              <a:rPr lang="en-US" sz="4000" err="1" smtClean="0">
                <a:latin typeface="Lucida Console" panose="020B0609040504020204" pitchFamily="49" charset="0"/>
              </a:rPr>
              <a:t>virtualización</a:t>
            </a:r>
            <a:r>
              <a:rPr lang="en-US" sz="4000" smtClean="0">
                <a:latin typeface="Lucida Console" panose="020B0609040504020204" pitchFamily="49" charset="0"/>
              </a:rPr>
              <a:t> </a:t>
            </a:r>
            <a:r>
              <a:rPr lang="en-US" sz="4000" err="1" smtClean="0">
                <a:latin typeface="Lucida Console" panose="020B0609040504020204" pitchFamily="49" charset="0"/>
              </a:rPr>
              <a:t>permite</a:t>
            </a:r>
            <a:r>
              <a:rPr lang="en-US" sz="4000" smtClean="0">
                <a:latin typeface="Lucida Console" panose="020B0609040504020204" pitchFamily="49" charset="0"/>
              </a:rPr>
              <a:t> </a:t>
            </a:r>
            <a:r>
              <a:rPr lang="en-US" sz="4000" err="1" smtClean="0">
                <a:latin typeface="Lucida Console" panose="020B0609040504020204" pitchFamily="49" charset="0"/>
              </a:rPr>
              <a:t>correr</a:t>
            </a:r>
            <a:r>
              <a:rPr lang="en-US" sz="4000" smtClean="0">
                <a:latin typeface="Lucida Console" panose="020B0609040504020204" pitchFamily="49" charset="0"/>
              </a:rPr>
              <a:t> </a:t>
            </a:r>
            <a:r>
              <a:rPr lang="en-US" sz="4000" err="1" smtClean="0">
                <a:latin typeface="Lucida Console" panose="020B0609040504020204" pitchFamily="49" charset="0"/>
              </a:rPr>
              <a:t>en</a:t>
            </a:r>
            <a:r>
              <a:rPr lang="en-US" sz="4000" smtClean="0">
                <a:latin typeface="Lucida Console" panose="020B0609040504020204" pitchFamily="49" charset="0"/>
              </a:rPr>
              <a:t> un </a:t>
            </a:r>
            <a:r>
              <a:rPr lang="en-US" sz="4000" err="1" smtClean="0">
                <a:latin typeface="Lucida Console" panose="020B0609040504020204" pitchFamily="49" charset="0"/>
              </a:rPr>
              <a:t>mismo</a:t>
            </a:r>
            <a:r>
              <a:rPr lang="en-US" sz="4000" smtClean="0">
                <a:latin typeface="Lucida Console" panose="020B0609040504020204" pitchFamily="49" charset="0"/>
              </a:rPr>
              <a:t> </a:t>
            </a:r>
            <a:r>
              <a:rPr lang="en-US" sz="4000" err="1" smtClean="0">
                <a:latin typeface="Lucida Console" panose="020B0609040504020204" pitchFamily="49" charset="0"/>
              </a:rPr>
              <a:t>equipo</a:t>
            </a:r>
            <a:r>
              <a:rPr lang="en-US" sz="4000" smtClean="0">
                <a:latin typeface="Lucida Console" panose="020B0609040504020204" pitchFamily="49" charset="0"/>
              </a:rPr>
              <a:t> </a:t>
            </a:r>
            <a:r>
              <a:rPr lang="en-US" sz="4000" err="1" smtClean="0">
                <a:latin typeface="Lucida Console" panose="020B0609040504020204" pitchFamily="49" charset="0"/>
              </a:rPr>
              <a:t>físico</a:t>
            </a:r>
            <a:r>
              <a:rPr lang="en-US" sz="4000" smtClean="0">
                <a:latin typeface="Lucida Console" panose="020B0609040504020204" pitchFamily="49" charset="0"/>
              </a:rPr>
              <a:t> -</a:t>
            </a:r>
            <a:r>
              <a:rPr lang="en-US" sz="4000" err="1" smtClean="0">
                <a:latin typeface="Lucida Console" panose="020B0609040504020204" pitchFamily="49" charset="0"/>
              </a:rPr>
              <a:t>gestionado</a:t>
            </a:r>
            <a:r>
              <a:rPr lang="en-US" sz="4000" smtClean="0">
                <a:latin typeface="Lucida Console" panose="020B0609040504020204" pitchFamily="49" charset="0"/>
              </a:rPr>
              <a:t> </a:t>
            </a:r>
            <a:r>
              <a:rPr lang="en-US" sz="4000" err="1" smtClean="0">
                <a:latin typeface="Lucida Console" panose="020B0609040504020204" pitchFamily="49" charset="0"/>
              </a:rPr>
              <a:t>por</a:t>
            </a:r>
            <a:r>
              <a:rPr lang="en-US" sz="4000" smtClean="0">
                <a:latin typeface="Lucida Console" panose="020B0609040504020204" pitchFamily="49" charset="0"/>
              </a:rPr>
              <a:t> un SO- a </a:t>
            </a:r>
            <a:r>
              <a:rPr lang="en-US" sz="4000" err="1" smtClean="0">
                <a:latin typeface="Lucida Console" panose="020B0609040504020204" pitchFamily="49" charset="0"/>
              </a:rPr>
              <a:t>diversos</a:t>
            </a:r>
            <a:r>
              <a:rPr lang="en-US" sz="4000" smtClean="0">
                <a:latin typeface="Lucida Console" panose="020B0609040504020204" pitchFamily="49" charset="0"/>
              </a:rPr>
              <a:t> </a:t>
            </a:r>
            <a:r>
              <a:rPr lang="en-US" sz="4000" err="1" smtClean="0">
                <a:latin typeface="Lucida Console" panose="020B0609040504020204" pitchFamily="49" charset="0"/>
              </a:rPr>
              <a:t>equipos</a:t>
            </a:r>
            <a:r>
              <a:rPr lang="en-US" sz="4000" smtClean="0">
                <a:latin typeface="Lucida Console" panose="020B0609040504020204" pitchFamily="49" charset="0"/>
              </a:rPr>
              <a:t> que </a:t>
            </a:r>
            <a:r>
              <a:rPr lang="en-US" sz="4000" err="1" smtClean="0">
                <a:latin typeface="Lucida Console" panose="020B0609040504020204" pitchFamily="49" charset="0"/>
              </a:rPr>
              <a:t>llamaremos</a:t>
            </a:r>
            <a:r>
              <a:rPr lang="en-US" sz="4000" smtClean="0">
                <a:latin typeface="Lucida Console" panose="020B0609040504020204" pitchFamily="49" charset="0"/>
              </a:rPr>
              <a:t> </a:t>
            </a:r>
            <a:r>
              <a:rPr lang="en-US" sz="4000" err="1" smtClean="0">
                <a:latin typeface="Lucida Console" panose="020B0609040504020204" pitchFamily="49" charset="0"/>
              </a:rPr>
              <a:t>Máquinas</a:t>
            </a:r>
            <a:r>
              <a:rPr lang="en-US" sz="4000" smtClean="0">
                <a:latin typeface="Lucida Console" panose="020B0609040504020204" pitchFamily="49" charset="0"/>
              </a:rPr>
              <a:t> </a:t>
            </a:r>
            <a:r>
              <a:rPr lang="en-US" sz="4000" err="1" smtClean="0">
                <a:latin typeface="Lucida Console" panose="020B0609040504020204" pitchFamily="49" charset="0"/>
              </a:rPr>
              <a:t>Virtuales</a:t>
            </a:r>
            <a:r>
              <a:rPr lang="en-US" sz="4000" smtClean="0">
                <a:latin typeface="Lucida Console" panose="020B0609040504020204" pitchFamily="49" charset="0"/>
              </a:rPr>
              <a:t> (VM de </a:t>
            </a:r>
            <a:r>
              <a:rPr lang="en-US" sz="4000" err="1" smtClean="0">
                <a:latin typeface="Lucida Console" panose="020B0609040504020204" pitchFamily="49" charset="0"/>
              </a:rPr>
              <a:t>ahora</a:t>
            </a:r>
            <a:r>
              <a:rPr lang="en-US" sz="4000" smtClean="0">
                <a:latin typeface="Lucida Console" panose="020B0609040504020204" pitchFamily="49" charset="0"/>
              </a:rPr>
              <a:t> </a:t>
            </a:r>
            <a:r>
              <a:rPr lang="en-US" sz="4000" err="1" smtClean="0">
                <a:latin typeface="Lucida Console" panose="020B0609040504020204" pitchFamily="49" charset="0"/>
              </a:rPr>
              <a:t>en</a:t>
            </a:r>
            <a:r>
              <a:rPr lang="en-US" sz="4000" smtClean="0">
                <a:latin typeface="Lucida Console" panose="020B0609040504020204" pitchFamily="49" charset="0"/>
              </a:rPr>
              <a:t> mas) </a:t>
            </a:r>
            <a:r>
              <a:rPr lang="en-US" sz="4000" err="1" smtClean="0">
                <a:latin typeface="Lucida Console" panose="020B0609040504020204" pitchFamily="49" charset="0"/>
              </a:rPr>
              <a:t>cada</a:t>
            </a:r>
            <a:r>
              <a:rPr lang="en-US" sz="4000" smtClean="0">
                <a:latin typeface="Lucida Console" panose="020B0609040504020204" pitchFamily="49" charset="0"/>
              </a:rPr>
              <a:t> </a:t>
            </a:r>
            <a:r>
              <a:rPr lang="en-US" sz="4000" err="1" smtClean="0">
                <a:latin typeface="Lucida Console" panose="020B0609040504020204" pitchFamily="49" charset="0"/>
              </a:rPr>
              <a:t>una</a:t>
            </a:r>
            <a:r>
              <a:rPr lang="en-US" sz="4000" smtClean="0">
                <a:latin typeface="Lucida Console" panose="020B0609040504020204" pitchFamily="49" charset="0"/>
              </a:rPr>
              <a:t> con </a:t>
            </a:r>
            <a:r>
              <a:rPr lang="en-US" sz="4000" err="1" smtClean="0">
                <a:latin typeface="Lucida Console" panose="020B0609040504020204" pitchFamily="49" charset="0"/>
              </a:rPr>
              <a:t>su</a:t>
            </a:r>
            <a:r>
              <a:rPr lang="en-US" sz="4000" smtClean="0">
                <a:latin typeface="Lucida Console" panose="020B0609040504020204" pitchFamily="49" charset="0"/>
              </a:rPr>
              <a:t> SO particular. </a:t>
            </a:r>
          </a:p>
          <a:p>
            <a:endParaRPr lang="en-US" sz="4000">
              <a:latin typeface="Lucida Console" panose="020B0609040504020204" pitchFamily="49" charset="0"/>
            </a:endParaRP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endParaRPr lang="es-AR" sz="7200">
              <a:solidFill>
                <a:srgbClr val="FF0000"/>
              </a:solidFill>
              <a:latin typeface="Haettenschweiler" panose="020B0706040902060204" pitchFamily="34" charset="0"/>
            </a:endParaRPr>
          </a:p>
        </p:txBody>
      </p:sp>
    </p:spTree>
    <p:extLst>
      <p:ext uri="{BB962C8B-B14F-4D97-AF65-F5344CB8AC3E}">
        <p14:creationId xmlns:p14="http://schemas.microsoft.com/office/powerpoint/2010/main" val="24963264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110343" y="1416756"/>
            <a:ext cx="10554787" cy="5632311"/>
          </a:xfrm>
          <a:prstGeom prst="rect">
            <a:avLst/>
          </a:prstGeom>
        </p:spPr>
        <p:txBody>
          <a:bodyPr wrap="square">
            <a:spAutoFit/>
          </a:bodyPr>
          <a:lstStyle/>
          <a:p>
            <a:r>
              <a:rPr lang="en-US" sz="4000" smtClean="0">
                <a:latin typeface="Lucida Console" panose="020B0609040504020204" pitchFamily="49" charset="0"/>
              </a:rPr>
              <a:t>Son </a:t>
            </a:r>
            <a:r>
              <a:rPr lang="en-US" sz="4000" err="1" smtClean="0">
                <a:latin typeface="Lucida Console" panose="020B0609040504020204" pitchFamily="49" charset="0"/>
              </a:rPr>
              <a:t>abstracciones</a:t>
            </a:r>
            <a:r>
              <a:rPr lang="en-US" sz="4000" smtClean="0">
                <a:latin typeface="Lucida Console" panose="020B0609040504020204" pitchFamily="49" charset="0"/>
              </a:rPr>
              <a:t> a NIVEL DE SOFTWARE de lo que se </a:t>
            </a:r>
            <a:r>
              <a:rPr lang="en-US" sz="4000" err="1" smtClean="0">
                <a:latin typeface="Lucida Console" panose="020B0609040504020204" pitchFamily="49" charset="0"/>
              </a:rPr>
              <a:t>conoce</a:t>
            </a:r>
            <a:r>
              <a:rPr lang="en-US" sz="4000" smtClean="0">
                <a:latin typeface="Lucida Console" panose="020B0609040504020204" pitchFamily="49" charset="0"/>
              </a:rPr>
              <a:t> </a:t>
            </a:r>
            <a:r>
              <a:rPr lang="en-US" sz="4000" err="1" smtClean="0">
                <a:latin typeface="Lucida Console" panose="020B0609040504020204" pitchFamily="49" charset="0"/>
              </a:rPr>
              <a:t>como</a:t>
            </a:r>
            <a:r>
              <a:rPr lang="en-US" sz="4000" smtClean="0">
                <a:latin typeface="Lucida Console" panose="020B0609040504020204" pitchFamily="49" charset="0"/>
              </a:rPr>
              <a:t> </a:t>
            </a:r>
            <a:r>
              <a:rPr lang="en-US" sz="4000" err="1" smtClean="0">
                <a:latin typeface="Lucida Console" panose="020B0609040504020204" pitchFamily="49" charset="0"/>
              </a:rPr>
              <a:t>máquina</a:t>
            </a:r>
            <a:r>
              <a:rPr lang="en-US" sz="4000" smtClean="0">
                <a:latin typeface="Lucida Console" panose="020B0609040504020204" pitchFamily="49" charset="0"/>
              </a:rPr>
              <a:t> </a:t>
            </a:r>
            <a:r>
              <a:rPr lang="en-US" sz="4000" err="1" smtClean="0">
                <a:latin typeface="Lucida Console" panose="020B0609040504020204" pitchFamily="49" charset="0"/>
              </a:rPr>
              <a:t>física</a:t>
            </a:r>
            <a:r>
              <a:rPr lang="en-US" sz="4000" smtClean="0">
                <a:latin typeface="Lucida Console" panose="020B0609040504020204" pitchFamily="49" charset="0"/>
              </a:rPr>
              <a:t>.</a:t>
            </a:r>
          </a:p>
          <a:p>
            <a:r>
              <a:rPr lang="en-US" sz="4000" smtClean="0">
                <a:latin typeface="Lucida Console" panose="020B0609040504020204" pitchFamily="49" charset="0"/>
              </a:rPr>
              <a:t>Se </a:t>
            </a:r>
            <a:r>
              <a:rPr lang="en-US" sz="4000" err="1" smtClean="0">
                <a:latin typeface="Lucida Console" panose="020B0609040504020204" pitchFamily="49" charset="0"/>
              </a:rPr>
              <a:t>tiene</a:t>
            </a:r>
            <a:r>
              <a:rPr lang="en-US" sz="4000" smtClean="0">
                <a:latin typeface="Lucida Console" panose="020B0609040504020204" pitchFamily="49" charset="0"/>
              </a:rPr>
              <a:t> </a:t>
            </a:r>
            <a:r>
              <a:rPr lang="en-US" sz="4000" err="1" smtClean="0">
                <a:latin typeface="Lucida Console" panose="020B0609040504020204" pitchFamily="49" charset="0"/>
              </a:rPr>
              <a:t>corriendo</a:t>
            </a:r>
            <a:r>
              <a:rPr lang="en-US" sz="4000" smtClean="0">
                <a:latin typeface="Lucida Console" panose="020B0609040504020204" pitchFamily="49" charset="0"/>
              </a:rPr>
              <a:t> </a:t>
            </a:r>
            <a:r>
              <a:rPr lang="en-US" sz="4000" err="1" smtClean="0">
                <a:latin typeface="Lucida Console" panose="020B0609040504020204" pitchFamily="49" charset="0"/>
              </a:rPr>
              <a:t>algo</a:t>
            </a:r>
            <a:r>
              <a:rPr lang="en-US" sz="4000" smtClean="0">
                <a:latin typeface="Lucida Console" panose="020B0609040504020204" pitchFamily="49" charset="0"/>
              </a:rPr>
              <a:t> que </a:t>
            </a:r>
            <a:r>
              <a:rPr lang="en-US" sz="4000" err="1" smtClean="0">
                <a:latin typeface="Lucida Console" panose="020B0609040504020204" pitchFamily="49" charset="0"/>
              </a:rPr>
              <a:t>funciona</a:t>
            </a:r>
            <a:r>
              <a:rPr lang="en-US" sz="4000" smtClean="0">
                <a:latin typeface="Lucida Console" panose="020B0609040504020204" pitchFamily="49" charset="0"/>
              </a:rPr>
              <a:t> </a:t>
            </a:r>
            <a:r>
              <a:rPr lang="en-US" sz="4000" err="1" smtClean="0">
                <a:latin typeface="Lucida Console" panose="020B0609040504020204" pitchFamily="49" charset="0"/>
              </a:rPr>
              <a:t>como</a:t>
            </a:r>
            <a:r>
              <a:rPr lang="en-US" sz="4000" smtClean="0">
                <a:latin typeface="Lucida Console" panose="020B0609040504020204" pitchFamily="49" charset="0"/>
              </a:rPr>
              <a:t> </a:t>
            </a:r>
            <a:r>
              <a:rPr lang="en-US" sz="4000" err="1" smtClean="0">
                <a:latin typeface="Lucida Console" panose="020B0609040504020204" pitchFamily="49" charset="0"/>
              </a:rPr>
              <a:t>si</a:t>
            </a:r>
            <a:r>
              <a:rPr lang="en-US" sz="4000" smtClean="0">
                <a:latin typeface="Lucida Console" panose="020B0609040504020204" pitchFamily="49" charset="0"/>
              </a:rPr>
              <a:t> </a:t>
            </a:r>
            <a:r>
              <a:rPr lang="en-US" sz="4000" err="1" smtClean="0">
                <a:latin typeface="Lucida Console" panose="020B0609040504020204" pitchFamily="49" charset="0"/>
              </a:rPr>
              <a:t>fuese</a:t>
            </a:r>
            <a:r>
              <a:rPr lang="en-US" sz="4000" smtClean="0">
                <a:latin typeface="Lucida Console" panose="020B0609040504020204" pitchFamily="49" charset="0"/>
              </a:rPr>
              <a:t> </a:t>
            </a:r>
            <a:r>
              <a:rPr lang="en-US" sz="4000" err="1" smtClean="0">
                <a:latin typeface="Lucida Console" panose="020B0609040504020204" pitchFamily="49" charset="0"/>
              </a:rPr>
              <a:t>una</a:t>
            </a:r>
            <a:r>
              <a:rPr lang="en-US" sz="4000" smtClean="0">
                <a:latin typeface="Lucida Console" panose="020B0609040504020204" pitchFamily="49" charset="0"/>
              </a:rPr>
              <a:t> </a:t>
            </a:r>
            <a:r>
              <a:rPr lang="en-US" sz="4000" err="1" smtClean="0">
                <a:latin typeface="Lucida Console" panose="020B0609040504020204" pitchFamily="49" charset="0"/>
              </a:rPr>
              <a:t>computadora</a:t>
            </a:r>
            <a:r>
              <a:rPr lang="en-US" sz="4000" smtClean="0">
                <a:latin typeface="Lucida Console" panose="020B0609040504020204" pitchFamily="49" charset="0"/>
              </a:rPr>
              <a:t> con </a:t>
            </a:r>
            <a:r>
              <a:rPr lang="en-US" sz="4000" err="1" smtClean="0">
                <a:latin typeface="Lucida Console" panose="020B0609040504020204" pitchFamily="49" charset="0"/>
              </a:rPr>
              <a:t>sus</a:t>
            </a:r>
            <a:r>
              <a:rPr lang="en-US" sz="4000" smtClean="0">
                <a:latin typeface="Lucida Console" panose="020B0609040504020204" pitchFamily="49" charset="0"/>
              </a:rPr>
              <a:t> </a:t>
            </a:r>
            <a:r>
              <a:rPr lang="en-US" sz="4000" err="1" smtClean="0">
                <a:latin typeface="Lucida Console" panose="020B0609040504020204" pitchFamily="49" charset="0"/>
              </a:rPr>
              <a:t>recursos</a:t>
            </a:r>
            <a:r>
              <a:rPr lang="en-US" sz="4000" smtClean="0">
                <a:latin typeface="Lucida Console" panose="020B0609040504020204" pitchFamily="49" charset="0"/>
              </a:rPr>
              <a:t> de hardware </a:t>
            </a:r>
            <a:r>
              <a:rPr lang="en-US" sz="4000" err="1" smtClean="0">
                <a:latin typeface="Lucida Console" panose="020B0609040504020204" pitchFamily="49" charset="0"/>
              </a:rPr>
              <a:t>pero</a:t>
            </a:r>
            <a:r>
              <a:rPr lang="en-US" sz="4000" smtClean="0">
                <a:latin typeface="Lucida Console" panose="020B0609040504020204" pitchFamily="49" charset="0"/>
              </a:rPr>
              <a:t> a </a:t>
            </a:r>
            <a:r>
              <a:rPr lang="en-US" sz="4000" err="1" smtClean="0">
                <a:latin typeface="Lucida Console" panose="020B0609040504020204" pitchFamily="49" charset="0"/>
              </a:rPr>
              <a:t>nivel</a:t>
            </a:r>
            <a:r>
              <a:rPr lang="en-US" sz="4000" smtClean="0">
                <a:latin typeface="Lucida Console" panose="020B0609040504020204" pitchFamily="49" charset="0"/>
              </a:rPr>
              <a:t> de software </a:t>
            </a:r>
            <a:r>
              <a:rPr lang="en-US" sz="4000" err="1" smtClean="0">
                <a:latin typeface="Lucida Console" panose="020B0609040504020204" pitchFamily="49" charset="0"/>
              </a:rPr>
              <a:t>dentro</a:t>
            </a:r>
            <a:r>
              <a:rPr lang="en-US" sz="4000" smtClean="0">
                <a:latin typeface="Lucida Console" panose="020B0609040504020204" pitchFamily="49" charset="0"/>
              </a:rPr>
              <a:t> de </a:t>
            </a:r>
            <a:r>
              <a:rPr lang="en-US" sz="4000" err="1" smtClean="0">
                <a:latin typeface="Lucida Console" panose="020B0609040504020204" pitchFamily="49" charset="0"/>
              </a:rPr>
              <a:t>otro</a:t>
            </a:r>
            <a:r>
              <a:rPr lang="en-US" sz="4000" smtClean="0">
                <a:latin typeface="Lucida Console" panose="020B0609040504020204" pitchFamily="49" charset="0"/>
              </a:rPr>
              <a:t> SO.</a:t>
            </a:r>
          </a:p>
          <a:p>
            <a:endParaRPr lang="en-US" sz="4000">
              <a:latin typeface="Lucida Console" panose="020B0609040504020204" pitchFamily="49" charset="0"/>
            </a:endParaRPr>
          </a:p>
        </p:txBody>
      </p:sp>
      <p:sp>
        <p:nvSpPr>
          <p:cNvPr id="5" name="Título 1"/>
          <p:cNvSpPr txBox="1">
            <a:spLocks/>
          </p:cNvSpPr>
          <p:nvPr/>
        </p:nvSpPr>
        <p:spPr>
          <a:xfrm>
            <a:off x="1474196" y="52661"/>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Máquinas Virtuales</a:t>
            </a:r>
            <a:endParaRPr lang="es-AR" sz="7200">
              <a:solidFill>
                <a:srgbClr val="FF0000"/>
              </a:solidFill>
              <a:latin typeface="Haettenschweiler" panose="020B0706040902060204" pitchFamily="34" charset="0"/>
            </a:endParaRPr>
          </a:p>
        </p:txBody>
      </p:sp>
    </p:spTree>
    <p:extLst>
      <p:ext uri="{BB962C8B-B14F-4D97-AF65-F5344CB8AC3E}">
        <p14:creationId xmlns:p14="http://schemas.microsoft.com/office/powerpoint/2010/main" val="35313900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s://azurecomcdn.azureedge.net/cvt-9f9fc0c8f58b3ad040162a3bc35891b6c2facdd09b05a8047ee68c7227a7af2e/images/page/overview/what-is-a-virtual-machine/overview-img.png"/>
          <p:cNvPicPr>
            <a:picLocks noChangeAspect="1" noChangeArrowheads="1"/>
          </p:cNvPicPr>
          <p:nvPr/>
        </p:nvPicPr>
        <p:blipFill rotWithShape="1">
          <a:blip r:embed="rId2">
            <a:extLst>
              <a:ext uri="{28A0092B-C50C-407E-A947-70E740481C1C}">
                <a14:useLocalDpi xmlns:a14="http://schemas.microsoft.com/office/drawing/2010/main" val="0"/>
              </a:ext>
            </a:extLst>
          </a:blip>
          <a:srcRect t="18304" r="66732" b="14596"/>
          <a:stretch/>
        </p:blipFill>
        <p:spPr bwMode="auto">
          <a:xfrm>
            <a:off x="3065867" y="-38100"/>
            <a:ext cx="8112125" cy="689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139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743196" y="2625886"/>
            <a:ext cx="7846425" cy="3416320"/>
          </a:xfrm>
          <a:prstGeom prst="rect">
            <a:avLst/>
          </a:prstGeom>
        </p:spPr>
        <p:txBody>
          <a:bodyPr wrap="square">
            <a:spAutoFit/>
          </a:bodyPr>
          <a:lstStyle/>
          <a:p>
            <a:pPr marL="228600" indent="-228600">
              <a:buAutoNum type="arabicPeriod"/>
            </a:pPr>
            <a:r>
              <a:rPr lang="en-US" sz="5400" smtClean="0">
                <a:latin typeface="Agency FB" panose="020B0503020202020204" pitchFamily="34" charset="0"/>
              </a:rPr>
              <a:t> Racionamiento de </a:t>
            </a:r>
            <a:r>
              <a:rPr lang="en-US" sz="5400" err="1" smtClean="0">
                <a:latin typeface="Agency FB" panose="020B0503020202020204" pitchFamily="34" charset="0"/>
              </a:rPr>
              <a:t>recursos</a:t>
            </a:r>
            <a:endParaRPr lang="en-US" sz="5400" smtClean="0">
              <a:latin typeface="Agency FB" panose="020B0503020202020204" pitchFamily="34" charset="0"/>
            </a:endParaRPr>
          </a:p>
          <a:p>
            <a:pPr marL="228600" indent="-228600">
              <a:buAutoNum type="arabicPeriod"/>
            </a:pPr>
            <a:r>
              <a:rPr lang="en-US" sz="5400" smtClean="0">
                <a:latin typeface="Agency FB" panose="020B0503020202020204" pitchFamily="34" charset="0"/>
              </a:rPr>
              <a:t>Aislamiento</a:t>
            </a:r>
          </a:p>
          <a:p>
            <a:pPr marL="228600" indent="-228600">
              <a:buAutoNum type="arabicPeriod"/>
            </a:pPr>
            <a:r>
              <a:rPr lang="en-US" sz="5400" err="1" smtClean="0">
                <a:latin typeface="Agency FB" panose="020B0503020202020204" pitchFamily="34" charset="0"/>
              </a:rPr>
              <a:t>Encapsulamiento</a:t>
            </a:r>
            <a:endParaRPr lang="en-US" sz="5400" smtClean="0">
              <a:latin typeface="Agency FB" panose="020B0503020202020204" pitchFamily="34" charset="0"/>
            </a:endParaRPr>
          </a:p>
          <a:p>
            <a:pPr marL="228600" indent="-228600">
              <a:buAutoNum type="arabicPeriod"/>
            </a:pPr>
            <a:r>
              <a:rPr lang="en-US" sz="5400" err="1" smtClean="0">
                <a:latin typeface="Agency FB" panose="020B0503020202020204" pitchFamily="34" charset="0"/>
              </a:rPr>
              <a:t>Independencia</a:t>
            </a:r>
            <a:endParaRPr lang="en-US" sz="5400">
              <a:latin typeface="Agency FB" panose="020B0503020202020204" pitchFamily="34" charset="0"/>
            </a:endParaRP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a:p>
            <a:pPr algn="ctr"/>
            <a:r>
              <a:rPr lang="es-AR" sz="7200" err="1" smtClean="0">
                <a:solidFill>
                  <a:srgbClr val="FF0000"/>
                </a:solidFill>
                <a:latin typeface="Haettenschweiler" panose="020B0706040902060204" pitchFamily="34" charset="0"/>
              </a:rPr>
              <a:t>Carácterísticas</a:t>
            </a:r>
            <a:r>
              <a:rPr lang="es-AR" sz="7200" smtClean="0">
                <a:solidFill>
                  <a:srgbClr val="FF0000"/>
                </a:solidFill>
                <a:latin typeface="Haettenschweiler" panose="020B0706040902060204" pitchFamily="34" charset="0"/>
              </a:rPr>
              <a:t> notorias</a:t>
            </a:r>
          </a:p>
        </p:txBody>
      </p:sp>
    </p:spTree>
    <p:extLst>
      <p:ext uri="{BB962C8B-B14F-4D97-AF65-F5344CB8AC3E}">
        <p14:creationId xmlns:p14="http://schemas.microsoft.com/office/powerpoint/2010/main" val="2812479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2743196" y="2625886"/>
            <a:ext cx="7846425" cy="3416320"/>
          </a:xfrm>
          <a:prstGeom prst="rect">
            <a:avLst/>
          </a:prstGeom>
        </p:spPr>
        <p:txBody>
          <a:bodyPr wrap="square">
            <a:spAutoFit/>
          </a:bodyPr>
          <a:lstStyle/>
          <a:p>
            <a:pPr marL="228600" indent="-228600">
              <a:buAutoNum type="arabicPeriod"/>
            </a:pPr>
            <a:r>
              <a:rPr lang="en-US" sz="5400" b="1" smtClean="0">
                <a:latin typeface="Agency FB" panose="020B0503020202020204" pitchFamily="34" charset="0"/>
              </a:rPr>
              <a:t> </a:t>
            </a:r>
            <a:r>
              <a:rPr lang="es-AR" sz="5400" b="1" smtClean="0">
                <a:latin typeface="Agency FB" panose="020B0503020202020204" pitchFamily="34" charset="0"/>
              </a:rPr>
              <a:t>Racionamiento</a:t>
            </a:r>
            <a:r>
              <a:rPr lang="en-US" sz="5400" b="1" smtClean="0">
                <a:latin typeface="Agency FB" panose="020B0503020202020204" pitchFamily="34" charset="0"/>
              </a:rPr>
              <a:t> de </a:t>
            </a:r>
            <a:r>
              <a:rPr lang="en-US" sz="5400" b="1" err="1" smtClean="0">
                <a:latin typeface="Agency FB" panose="020B0503020202020204" pitchFamily="34" charset="0"/>
              </a:rPr>
              <a:t>recursos</a:t>
            </a:r>
            <a:r>
              <a:rPr lang="en-US" sz="5400" smtClean="0">
                <a:latin typeface="Agency FB" panose="020B0503020202020204" pitchFamily="34" charset="0"/>
              </a:rPr>
              <a:t>:</a:t>
            </a:r>
          </a:p>
          <a:p>
            <a:r>
              <a:rPr lang="en-US" sz="5400" err="1" smtClean="0">
                <a:latin typeface="Agency FB" panose="020B0503020202020204" pitchFamily="34" charset="0"/>
              </a:rPr>
              <a:t>Aprovechar</a:t>
            </a:r>
            <a:r>
              <a:rPr lang="en-US" sz="5400" smtClean="0">
                <a:latin typeface="Agency FB" panose="020B0503020202020204" pitchFamily="34" charset="0"/>
              </a:rPr>
              <a:t> </a:t>
            </a:r>
            <a:r>
              <a:rPr lang="en-US" sz="5400" err="1" smtClean="0">
                <a:latin typeface="Agency FB" panose="020B0503020202020204" pitchFamily="34" charset="0"/>
              </a:rPr>
              <a:t>los</a:t>
            </a:r>
            <a:r>
              <a:rPr lang="en-US" sz="5400" smtClean="0">
                <a:latin typeface="Agency FB" panose="020B0503020202020204" pitchFamily="34" charset="0"/>
              </a:rPr>
              <a:t> </a:t>
            </a:r>
            <a:r>
              <a:rPr lang="en-US" sz="5400" err="1" smtClean="0">
                <a:latin typeface="Agency FB" panose="020B0503020202020204" pitchFamily="34" charset="0"/>
              </a:rPr>
              <a:t>recursos</a:t>
            </a:r>
            <a:r>
              <a:rPr lang="en-US" sz="5400" smtClean="0">
                <a:latin typeface="Agency FB" panose="020B0503020202020204" pitchFamily="34" charset="0"/>
              </a:rPr>
              <a:t> de hardware para </a:t>
            </a:r>
            <a:r>
              <a:rPr lang="en-US" sz="5400" err="1" smtClean="0">
                <a:latin typeface="Agency FB" panose="020B0503020202020204" pitchFamily="34" charset="0"/>
              </a:rPr>
              <a:t>repartirlos</a:t>
            </a:r>
            <a:r>
              <a:rPr lang="en-US" sz="5400" smtClean="0">
                <a:latin typeface="Agency FB" panose="020B0503020202020204" pitchFamily="34" charset="0"/>
              </a:rPr>
              <a:t> </a:t>
            </a:r>
            <a:r>
              <a:rPr lang="en-US" sz="5400" err="1" smtClean="0">
                <a:latin typeface="Agency FB" panose="020B0503020202020204" pitchFamily="34" charset="0"/>
              </a:rPr>
              <a:t>en</a:t>
            </a:r>
            <a:r>
              <a:rPr lang="en-US" sz="5400" smtClean="0">
                <a:latin typeface="Agency FB" panose="020B0503020202020204" pitchFamily="34" charset="0"/>
              </a:rPr>
              <a:t> </a:t>
            </a:r>
            <a:r>
              <a:rPr lang="en-US" sz="5400" err="1" smtClean="0">
                <a:latin typeface="Agency FB" panose="020B0503020202020204" pitchFamily="34" charset="0"/>
              </a:rPr>
              <a:t>distintas</a:t>
            </a:r>
            <a:r>
              <a:rPr lang="en-US" sz="5400">
                <a:latin typeface="Agency FB" panose="020B0503020202020204" pitchFamily="34" charset="0"/>
              </a:rPr>
              <a:t> </a:t>
            </a:r>
            <a:r>
              <a:rPr lang="en-US" sz="5400" smtClean="0">
                <a:latin typeface="Agency FB" panose="020B0503020202020204" pitchFamily="34" charset="0"/>
              </a:rPr>
              <a:t>VM</a:t>
            </a:r>
            <a:endParaRPr lang="en-US" sz="5400">
              <a:latin typeface="Agency FB" panose="020B0503020202020204" pitchFamily="34" charset="0"/>
            </a:endParaRP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a:p>
            <a:pPr algn="ctr"/>
            <a:r>
              <a:rPr lang="es-AR" sz="7200" err="1" smtClean="0">
                <a:solidFill>
                  <a:srgbClr val="FF0000"/>
                </a:solidFill>
                <a:latin typeface="Haettenschweiler" panose="020B0706040902060204" pitchFamily="34" charset="0"/>
              </a:rPr>
              <a:t>Carácterísticas</a:t>
            </a:r>
            <a:r>
              <a:rPr lang="es-AR" sz="7200" smtClean="0">
                <a:solidFill>
                  <a:srgbClr val="FF0000"/>
                </a:solidFill>
                <a:latin typeface="Haettenschweiler" panose="020B0706040902060204" pitchFamily="34" charset="0"/>
              </a:rPr>
              <a:t> notorias</a:t>
            </a:r>
          </a:p>
        </p:txBody>
      </p:sp>
    </p:spTree>
    <p:extLst>
      <p:ext uri="{BB962C8B-B14F-4D97-AF65-F5344CB8AC3E}">
        <p14:creationId xmlns:p14="http://schemas.microsoft.com/office/powerpoint/2010/main" val="23646253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3416320"/>
          </a:xfrm>
          <a:prstGeom prst="rect">
            <a:avLst/>
          </a:prstGeom>
        </p:spPr>
        <p:txBody>
          <a:bodyPr wrap="square">
            <a:spAutoFit/>
          </a:bodyPr>
          <a:lstStyle/>
          <a:p>
            <a:r>
              <a:rPr lang="en-US" sz="5400" b="1" smtClean="0">
                <a:latin typeface="Agency FB" panose="020B0503020202020204" pitchFamily="34" charset="0"/>
              </a:rPr>
              <a:t>2. Aislamiento:</a:t>
            </a:r>
          </a:p>
          <a:p>
            <a:r>
              <a:rPr lang="en-US" sz="5400" smtClean="0">
                <a:latin typeface="Agency FB" panose="020B0503020202020204" pitchFamily="34" charset="0"/>
              </a:rPr>
              <a:t>Se </a:t>
            </a:r>
            <a:r>
              <a:rPr lang="en-US" sz="5400" err="1" smtClean="0">
                <a:latin typeface="Agency FB" panose="020B0503020202020204" pitchFamily="34" charset="0"/>
              </a:rPr>
              <a:t>hace</a:t>
            </a:r>
            <a:r>
              <a:rPr lang="en-US" sz="5400" smtClean="0">
                <a:latin typeface="Agency FB" panose="020B0503020202020204" pitchFamily="34" charset="0"/>
              </a:rPr>
              <a:t> </a:t>
            </a:r>
            <a:r>
              <a:rPr lang="en-US" sz="5400" err="1" smtClean="0">
                <a:latin typeface="Agency FB" panose="020B0503020202020204" pitchFamily="34" charset="0"/>
              </a:rPr>
              <a:t>uso</a:t>
            </a:r>
            <a:r>
              <a:rPr lang="en-US" sz="5400" smtClean="0">
                <a:latin typeface="Agency FB" panose="020B0503020202020204" pitchFamily="34" charset="0"/>
              </a:rPr>
              <a:t> de la VM </a:t>
            </a:r>
            <a:r>
              <a:rPr lang="en-US" sz="5400" err="1" smtClean="0">
                <a:latin typeface="Agency FB" panose="020B0503020202020204" pitchFamily="34" charset="0"/>
              </a:rPr>
              <a:t>como</a:t>
            </a:r>
            <a:r>
              <a:rPr lang="en-US" sz="5400" smtClean="0">
                <a:latin typeface="Agency FB" panose="020B0503020202020204" pitchFamily="34" charset="0"/>
              </a:rPr>
              <a:t> </a:t>
            </a:r>
            <a:r>
              <a:rPr lang="en-US" sz="5400" err="1" smtClean="0">
                <a:latin typeface="Agency FB" panose="020B0503020202020204" pitchFamily="34" charset="0"/>
              </a:rPr>
              <a:t>si</a:t>
            </a:r>
            <a:r>
              <a:rPr lang="en-US" sz="5400" smtClean="0">
                <a:latin typeface="Agency FB" panose="020B0503020202020204" pitchFamily="34" charset="0"/>
              </a:rPr>
              <a:t> </a:t>
            </a:r>
            <a:r>
              <a:rPr lang="es-AR" sz="5400" smtClean="0">
                <a:latin typeface="Agency FB" panose="020B0503020202020204" pitchFamily="34" charset="0"/>
              </a:rPr>
              <a:t>fuese</a:t>
            </a:r>
          </a:p>
          <a:p>
            <a:r>
              <a:rPr lang="es-AR" sz="5400" smtClean="0">
                <a:latin typeface="Agency FB" panose="020B0503020202020204" pitchFamily="34" charset="0"/>
              </a:rPr>
              <a:t>un sistema aparte sin preocuparme de provocar problemas a nivel de hardware.</a:t>
            </a: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a:p>
            <a:pPr algn="ctr"/>
            <a:r>
              <a:rPr lang="es-AR" sz="7200" err="1" smtClean="0">
                <a:solidFill>
                  <a:srgbClr val="FF0000"/>
                </a:solidFill>
                <a:latin typeface="Haettenschweiler" panose="020B0706040902060204" pitchFamily="34" charset="0"/>
              </a:rPr>
              <a:t>Carácterísticas</a:t>
            </a:r>
            <a:r>
              <a:rPr lang="es-AR" sz="7200" smtClean="0">
                <a:solidFill>
                  <a:srgbClr val="FF0000"/>
                </a:solidFill>
                <a:latin typeface="Haettenschweiler" panose="020B0706040902060204" pitchFamily="34" charset="0"/>
              </a:rPr>
              <a:t> notorias</a:t>
            </a:r>
          </a:p>
        </p:txBody>
      </p:sp>
    </p:spTree>
    <p:extLst>
      <p:ext uri="{BB962C8B-B14F-4D97-AF65-F5344CB8AC3E}">
        <p14:creationId xmlns:p14="http://schemas.microsoft.com/office/powerpoint/2010/main" val="3196980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3416320"/>
          </a:xfrm>
          <a:prstGeom prst="rect">
            <a:avLst/>
          </a:prstGeom>
        </p:spPr>
        <p:txBody>
          <a:bodyPr wrap="square">
            <a:spAutoFit/>
          </a:bodyPr>
          <a:lstStyle/>
          <a:p>
            <a:r>
              <a:rPr lang="es-AR" sz="5400" b="1" smtClean="0">
                <a:latin typeface="Agency FB" panose="020B0503020202020204" pitchFamily="34" charset="0"/>
              </a:rPr>
              <a:t>3. Encapsulamiento:</a:t>
            </a:r>
          </a:p>
          <a:p>
            <a:r>
              <a:rPr lang="es-AR" sz="5400" smtClean="0">
                <a:latin typeface="Agency FB" panose="020B0503020202020204" pitchFamily="34" charset="0"/>
              </a:rPr>
              <a:t>El estado de la VM se guarda en archivos y se puede hacer el uso de este tipo de implementación para su portabilidad y manipulación.</a:t>
            </a: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a:p>
            <a:pPr algn="ctr"/>
            <a:r>
              <a:rPr lang="es-AR" sz="7200" err="1" smtClean="0">
                <a:solidFill>
                  <a:srgbClr val="FF0000"/>
                </a:solidFill>
                <a:latin typeface="Haettenschweiler" panose="020B0706040902060204" pitchFamily="34" charset="0"/>
              </a:rPr>
              <a:t>Carácterísticas</a:t>
            </a:r>
            <a:r>
              <a:rPr lang="es-AR" sz="7200" smtClean="0">
                <a:solidFill>
                  <a:srgbClr val="FF0000"/>
                </a:solidFill>
                <a:latin typeface="Haettenschweiler" panose="020B0706040902060204" pitchFamily="34" charset="0"/>
              </a:rPr>
              <a:t> notorias</a:t>
            </a:r>
          </a:p>
        </p:txBody>
      </p:sp>
    </p:spTree>
    <p:extLst>
      <p:ext uri="{BB962C8B-B14F-4D97-AF65-F5344CB8AC3E}">
        <p14:creationId xmlns:p14="http://schemas.microsoft.com/office/powerpoint/2010/main" val="19884622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3416320"/>
          </a:xfrm>
          <a:prstGeom prst="rect">
            <a:avLst/>
          </a:prstGeom>
        </p:spPr>
        <p:txBody>
          <a:bodyPr wrap="square">
            <a:spAutoFit/>
          </a:bodyPr>
          <a:lstStyle/>
          <a:p>
            <a:r>
              <a:rPr lang="es-AR" sz="5400" b="1" smtClean="0">
                <a:latin typeface="Agency FB" panose="020B0503020202020204" pitchFamily="34" charset="0"/>
              </a:rPr>
              <a:t>4. Independencia del hardware:</a:t>
            </a:r>
          </a:p>
          <a:p>
            <a:r>
              <a:rPr lang="es-AR" sz="5400" smtClean="0">
                <a:latin typeface="Agency FB" panose="020B0503020202020204" pitchFamily="34" charset="0"/>
              </a:rPr>
              <a:t>Se puede mover las máquinas virtuales a cualquier equipo que la pueda correr.</a:t>
            </a:r>
          </a:p>
          <a:p>
            <a:endParaRPr lang="es-AR" sz="5400" smtClean="0">
              <a:latin typeface="Agency FB" panose="020B0503020202020204" pitchFamily="34" charset="0"/>
            </a:endParaRP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a:p>
            <a:pPr algn="ctr"/>
            <a:r>
              <a:rPr lang="es-AR" sz="7200" err="1" smtClean="0">
                <a:solidFill>
                  <a:srgbClr val="FF0000"/>
                </a:solidFill>
                <a:latin typeface="Haettenschweiler" panose="020B0706040902060204" pitchFamily="34" charset="0"/>
              </a:rPr>
              <a:t>Carácterísticas</a:t>
            </a:r>
            <a:r>
              <a:rPr lang="es-AR" sz="7200" smtClean="0">
                <a:solidFill>
                  <a:srgbClr val="FF0000"/>
                </a:solidFill>
                <a:latin typeface="Haettenschweiler" panose="020B0706040902060204" pitchFamily="34" charset="0"/>
              </a:rPr>
              <a:t> notorias</a:t>
            </a:r>
          </a:p>
        </p:txBody>
      </p:sp>
    </p:spTree>
    <p:extLst>
      <p:ext uri="{BB962C8B-B14F-4D97-AF65-F5344CB8AC3E}">
        <p14:creationId xmlns:p14="http://schemas.microsoft.com/office/powerpoint/2010/main" val="2130855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14350" y="1959681"/>
            <a:ext cx="11353800" cy="5262979"/>
          </a:xfrm>
          <a:prstGeom prst="rect">
            <a:avLst/>
          </a:prstGeom>
        </p:spPr>
        <p:txBody>
          <a:bodyPr wrap="square">
            <a:spAutoFit/>
          </a:bodyPr>
          <a:lstStyle/>
          <a:p>
            <a:r>
              <a:rPr lang="es-AR" sz="4800" b="1" smtClean="0">
                <a:latin typeface="Agency FB" panose="020B0503020202020204" pitchFamily="34" charset="0"/>
              </a:rPr>
              <a:t>Ventajas:</a:t>
            </a:r>
          </a:p>
          <a:p>
            <a:r>
              <a:rPr lang="es-AR" sz="4800" smtClean="0">
                <a:latin typeface="Agency FB" panose="020B0503020202020204" pitchFamily="34" charset="0"/>
              </a:rPr>
              <a:t>Rapidez en despliegue de equipos y aplicaciones</a:t>
            </a:r>
          </a:p>
          <a:p>
            <a:r>
              <a:rPr lang="es-AR" sz="4800" smtClean="0">
                <a:latin typeface="Agency FB" panose="020B0503020202020204" pitchFamily="34" charset="0"/>
              </a:rPr>
              <a:t>Portabilidad de equipos</a:t>
            </a:r>
          </a:p>
          <a:p>
            <a:r>
              <a:rPr lang="es-AR" sz="4800" smtClean="0">
                <a:latin typeface="Agency FB" panose="020B0503020202020204" pitchFamily="34" charset="0"/>
              </a:rPr>
              <a:t>Facilidad de gestión</a:t>
            </a:r>
          </a:p>
          <a:p>
            <a:r>
              <a:rPr lang="es-AR" sz="4800" smtClean="0">
                <a:latin typeface="Agency FB" panose="020B0503020202020204" pitchFamily="34" charset="0"/>
              </a:rPr>
              <a:t>Reducción -y tolerancia- a fallas</a:t>
            </a:r>
          </a:p>
          <a:p>
            <a:r>
              <a:rPr lang="es-AR" sz="4800" smtClean="0">
                <a:latin typeface="Agency FB" panose="020B0503020202020204" pitchFamily="34" charset="0"/>
              </a:rPr>
              <a:t>Recuperación de caídas de servicio mas rápida</a:t>
            </a:r>
          </a:p>
          <a:p>
            <a:endParaRPr lang="es-AR" sz="4800" smtClean="0">
              <a:latin typeface="Agency FB" panose="020B0503020202020204" pitchFamily="34" charset="0"/>
            </a:endParaRPr>
          </a:p>
        </p:txBody>
      </p:sp>
      <p:sp>
        <p:nvSpPr>
          <p:cNvPr id="5" name="Título 1"/>
          <p:cNvSpPr txBox="1">
            <a:spLocks/>
          </p:cNvSpPr>
          <p:nvPr/>
        </p:nvSpPr>
        <p:spPr>
          <a:xfrm>
            <a:off x="1619250" y="162198"/>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Virtualización</a:t>
            </a:r>
          </a:p>
        </p:txBody>
      </p:sp>
    </p:spTree>
    <p:extLst>
      <p:ext uri="{BB962C8B-B14F-4D97-AF65-F5344CB8AC3E}">
        <p14:creationId xmlns:p14="http://schemas.microsoft.com/office/powerpoint/2010/main" val="17556639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33612" r="-560"/>
          <a:stretch/>
        </p:blipFill>
        <p:spPr>
          <a:xfrm>
            <a:off x="781050" y="21692"/>
            <a:ext cx="10858500" cy="6836308"/>
          </a:xfrm>
          <a:prstGeom prst="rect">
            <a:avLst/>
          </a:prstGeom>
        </p:spPr>
      </p:pic>
    </p:spTree>
    <p:extLst>
      <p:ext uri="{BB962C8B-B14F-4D97-AF65-F5344CB8AC3E}">
        <p14:creationId xmlns:p14="http://schemas.microsoft.com/office/powerpoint/2010/main" val="19175446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1754326"/>
          </a:xfrm>
          <a:prstGeom prst="rect">
            <a:avLst/>
          </a:prstGeom>
        </p:spPr>
        <p:txBody>
          <a:bodyPr wrap="square">
            <a:spAutoFit/>
          </a:bodyPr>
          <a:lstStyle/>
          <a:p>
            <a:r>
              <a:rPr lang="es-AR" sz="5400" smtClean="0">
                <a:latin typeface="Agency FB" panose="020B0503020202020204" pitchFamily="34" charset="0"/>
              </a:rPr>
              <a:t>Es la capa del sistema que permite tanto correr como gestionar máquinas virtuales.</a:t>
            </a: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Hypervisor</a:t>
            </a:r>
          </a:p>
        </p:txBody>
      </p:sp>
    </p:spTree>
    <p:extLst>
      <p:ext uri="{BB962C8B-B14F-4D97-AF65-F5344CB8AC3E}">
        <p14:creationId xmlns:p14="http://schemas.microsoft.com/office/powerpoint/2010/main" val="28930714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2585323"/>
          </a:xfrm>
          <a:prstGeom prst="rect">
            <a:avLst/>
          </a:prstGeom>
        </p:spPr>
        <p:txBody>
          <a:bodyPr wrap="square">
            <a:spAutoFit/>
          </a:bodyPr>
          <a:lstStyle/>
          <a:p>
            <a:r>
              <a:rPr lang="es-AR" sz="5400" smtClean="0">
                <a:latin typeface="Agency FB" panose="020B0503020202020204" pitchFamily="34" charset="0"/>
              </a:rPr>
              <a:t>Distinguiremos dos tipos para esta clase:</a:t>
            </a:r>
          </a:p>
          <a:p>
            <a:r>
              <a:rPr lang="es-AR" sz="5400" smtClean="0">
                <a:latin typeface="Agency FB" panose="020B0503020202020204" pitchFamily="34" charset="0"/>
              </a:rPr>
              <a:t>Nivel 1: Embebido en el sistema operativo</a:t>
            </a:r>
          </a:p>
          <a:p>
            <a:r>
              <a:rPr lang="es-AR" sz="5400" smtClean="0">
                <a:latin typeface="Agency FB" panose="020B0503020202020204" pitchFamily="34" charset="0"/>
              </a:rPr>
              <a:t>Nivel 2: Nativo o Bare-metal (metal desnudo)</a:t>
            </a: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Hypervisor</a:t>
            </a:r>
          </a:p>
        </p:txBody>
      </p:sp>
    </p:spTree>
    <p:extLst>
      <p:ext uri="{BB962C8B-B14F-4D97-AF65-F5344CB8AC3E}">
        <p14:creationId xmlns:p14="http://schemas.microsoft.com/office/powerpoint/2010/main" val="7235463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srcRect l="6594" t="18865" r="7417" b="6043"/>
          <a:stretch/>
        </p:blipFill>
        <p:spPr>
          <a:xfrm>
            <a:off x="1485900" y="507473"/>
            <a:ext cx="9124950" cy="5976404"/>
          </a:xfrm>
          <a:prstGeom prst="rect">
            <a:avLst/>
          </a:prstGeom>
        </p:spPr>
      </p:pic>
    </p:spTree>
    <p:extLst>
      <p:ext uri="{BB962C8B-B14F-4D97-AF65-F5344CB8AC3E}">
        <p14:creationId xmlns:p14="http://schemas.microsoft.com/office/powerpoint/2010/main" val="24316022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571500" y="2625886"/>
            <a:ext cx="11353800" cy="3416320"/>
          </a:xfrm>
          <a:prstGeom prst="rect">
            <a:avLst/>
          </a:prstGeom>
        </p:spPr>
        <p:txBody>
          <a:bodyPr wrap="square">
            <a:spAutoFit/>
          </a:bodyPr>
          <a:lstStyle/>
          <a:p>
            <a:r>
              <a:rPr lang="es-AR" sz="5400" smtClean="0">
                <a:latin typeface="Agency FB" panose="020B0503020202020204" pitchFamily="34" charset="0"/>
              </a:rPr>
              <a:t>Con el rápido crecimiento de las redes, sobre todo Internet, y el auge de la virtualización aparece una nueva abstracción a nivel de cómputo que es la “Computación en la Nube”</a:t>
            </a:r>
          </a:p>
        </p:txBody>
      </p:sp>
      <p:sp>
        <p:nvSpPr>
          <p:cNvPr id="5" name="Título 1"/>
          <p:cNvSpPr txBox="1">
            <a:spLocks/>
          </p:cNvSpPr>
          <p:nvPr/>
        </p:nvSpPr>
        <p:spPr>
          <a:xfrm>
            <a:off x="1445621" y="352698"/>
            <a:ext cx="9144000" cy="16069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Computación en la Nube</a:t>
            </a:r>
          </a:p>
          <a:p>
            <a:pPr algn="ctr"/>
            <a:r>
              <a:rPr lang="es-AR" sz="7200" smtClean="0">
                <a:solidFill>
                  <a:srgbClr val="FF0000"/>
                </a:solidFill>
                <a:latin typeface="Haettenschweiler" panose="020B0706040902060204" pitchFamily="34" charset="0"/>
              </a:rPr>
              <a:t>(Cloud Computing)</a:t>
            </a:r>
          </a:p>
        </p:txBody>
      </p:sp>
    </p:spTree>
    <p:extLst>
      <p:ext uri="{BB962C8B-B14F-4D97-AF65-F5344CB8AC3E}">
        <p14:creationId xmlns:p14="http://schemas.microsoft.com/office/powerpoint/2010/main" val="2460447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346689"/>
            <a:ext cx="12058650" cy="5078313"/>
          </a:xfrm>
          <a:prstGeom prst="rect">
            <a:avLst/>
          </a:prstGeom>
        </p:spPr>
        <p:txBody>
          <a:bodyPr wrap="square">
            <a:spAutoFit/>
          </a:bodyPr>
          <a:lstStyle/>
          <a:p>
            <a:r>
              <a:rPr lang="es-AR" sz="5400" smtClean="0">
                <a:latin typeface="Agency FB" panose="020B0503020202020204" pitchFamily="34" charset="0"/>
              </a:rPr>
              <a:t>Consiste en brindar servicios de computo como ser infraestructura de servidores, almacenamiento, despliegue de aplicaciones, servicio de software, etc... a través de la red, principalmente internet, abstrayendo al usuario de la implementación que permite brindar ese servicio.</a:t>
            </a: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Cloud Computing</a:t>
            </a:r>
          </a:p>
        </p:txBody>
      </p:sp>
    </p:spTree>
    <p:extLst>
      <p:ext uri="{BB962C8B-B14F-4D97-AF65-F5344CB8AC3E}">
        <p14:creationId xmlns:p14="http://schemas.microsoft.com/office/powerpoint/2010/main" val="4985892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346689"/>
            <a:ext cx="12058650" cy="4662815"/>
          </a:xfrm>
          <a:prstGeom prst="rect">
            <a:avLst/>
          </a:prstGeom>
        </p:spPr>
        <p:txBody>
          <a:bodyPr wrap="square">
            <a:spAutoFit/>
          </a:bodyPr>
          <a:lstStyle/>
          <a:p>
            <a:r>
              <a:rPr lang="es-AR" sz="5400" b="1" smtClean="0">
                <a:latin typeface="Agency FB" panose="020B0503020202020204" pitchFamily="34" charset="0"/>
              </a:rPr>
              <a:t>Tipos básicos de servicios:</a:t>
            </a:r>
          </a:p>
          <a:p>
            <a:pPr>
              <a:lnSpc>
                <a:spcPct val="150000"/>
              </a:lnSpc>
            </a:pPr>
            <a:r>
              <a:rPr lang="es-AR" sz="5400" b="1" smtClean="0">
                <a:latin typeface="Agency FB" panose="020B0503020202020204" pitchFamily="34" charset="0"/>
              </a:rPr>
              <a:t>IaaS:</a:t>
            </a:r>
            <a:r>
              <a:rPr lang="es-AR" sz="5400" smtClean="0">
                <a:latin typeface="Agency FB" panose="020B0503020202020204" pitchFamily="34" charset="0"/>
              </a:rPr>
              <a:t> Infrastructure as a Service</a:t>
            </a:r>
          </a:p>
          <a:p>
            <a:pPr>
              <a:lnSpc>
                <a:spcPct val="150000"/>
              </a:lnSpc>
            </a:pPr>
            <a:r>
              <a:rPr lang="es-AR" sz="5400" b="1" smtClean="0">
                <a:latin typeface="Agency FB" panose="020B0503020202020204" pitchFamily="34" charset="0"/>
              </a:rPr>
              <a:t>PaaS: </a:t>
            </a:r>
            <a:r>
              <a:rPr lang="es-AR" sz="5400" smtClean="0">
                <a:latin typeface="Agency FB" panose="020B0503020202020204" pitchFamily="34" charset="0"/>
              </a:rPr>
              <a:t>Platform as a Service</a:t>
            </a:r>
          </a:p>
          <a:p>
            <a:pPr>
              <a:lnSpc>
                <a:spcPct val="150000"/>
              </a:lnSpc>
            </a:pPr>
            <a:r>
              <a:rPr lang="es-AR" sz="5400" b="1">
                <a:latin typeface="Agency FB" panose="020B0503020202020204" pitchFamily="34" charset="0"/>
              </a:rPr>
              <a:t>SaaS:</a:t>
            </a:r>
            <a:r>
              <a:rPr lang="es-AR" sz="5400">
                <a:latin typeface="Agency FB" panose="020B0503020202020204" pitchFamily="34" charset="0"/>
              </a:rPr>
              <a:t> Software as a </a:t>
            </a:r>
            <a:r>
              <a:rPr lang="es-AR" sz="5400" smtClean="0">
                <a:latin typeface="Agency FB" panose="020B0503020202020204" pitchFamily="34" charset="0"/>
              </a:rPr>
              <a:t>Service</a:t>
            </a:r>
            <a:endParaRPr lang="es-AR" sz="5400">
              <a:latin typeface="Agency FB" panose="020B0503020202020204" pitchFamily="34" charset="0"/>
            </a:endParaRP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Cloud Computing</a:t>
            </a:r>
          </a:p>
        </p:txBody>
      </p:sp>
    </p:spTree>
    <p:extLst>
      <p:ext uri="{BB962C8B-B14F-4D97-AF65-F5344CB8AC3E}">
        <p14:creationId xmlns:p14="http://schemas.microsoft.com/office/powerpoint/2010/main" val="11437477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4524315"/>
          </a:xfrm>
          <a:prstGeom prst="rect">
            <a:avLst/>
          </a:prstGeom>
        </p:spPr>
        <p:txBody>
          <a:bodyPr wrap="square">
            <a:spAutoFit/>
          </a:bodyPr>
          <a:lstStyle/>
          <a:p>
            <a:r>
              <a:rPr lang="es-AR" sz="4800" smtClean="0">
                <a:latin typeface="Agency FB" panose="020B0503020202020204" pitchFamily="34" charset="0"/>
              </a:rPr>
              <a:t>Se brinda como servicio la posibilidad de poder desplegar infraestructura. El usuario no se encarga de los detalles de mantenimiento de la capa física que permite desplegar sus equipos, sino de dimensionar y desplegar los equipos, asignando recursos de hardware y de instalar el sistema operativo. Esto gracias a la virtualización de equipos.</a:t>
            </a: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IaaS</a:t>
            </a:r>
          </a:p>
        </p:txBody>
      </p:sp>
    </p:spTree>
    <p:extLst>
      <p:ext uri="{BB962C8B-B14F-4D97-AF65-F5344CB8AC3E}">
        <p14:creationId xmlns:p14="http://schemas.microsoft.com/office/powerpoint/2010/main" val="37358917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3785652"/>
          </a:xfrm>
          <a:prstGeom prst="rect">
            <a:avLst/>
          </a:prstGeom>
        </p:spPr>
        <p:txBody>
          <a:bodyPr wrap="square">
            <a:spAutoFit/>
          </a:bodyPr>
          <a:lstStyle/>
          <a:p>
            <a:r>
              <a:rPr lang="es-AR" sz="4800" smtClean="0">
                <a:latin typeface="Agency FB" panose="020B0503020202020204" pitchFamily="34" charset="0"/>
              </a:rPr>
              <a:t>Se brinda como servicio la posibilidad de poder desplegar directamente herramientas y aplicativos. </a:t>
            </a:r>
          </a:p>
          <a:p>
            <a:r>
              <a:rPr lang="es-AR" sz="4800" smtClean="0">
                <a:latin typeface="Agency FB" panose="020B0503020202020204" pitchFamily="34" charset="0"/>
              </a:rPr>
              <a:t>Tiene una gran orientación a desarrolladores que necesitan abstraerse del detalle de implementación de infraestructura por completo para desplegar sus aplicativos.</a:t>
            </a: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PaaS</a:t>
            </a:r>
          </a:p>
        </p:txBody>
      </p:sp>
    </p:spTree>
    <p:extLst>
      <p:ext uri="{BB962C8B-B14F-4D97-AF65-F5344CB8AC3E}">
        <p14:creationId xmlns:p14="http://schemas.microsoft.com/office/powerpoint/2010/main" val="29935687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4524315"/>
          </a:xfrm>
          <a:prstGeom prst="rect">
            <a:avLst/>
          </a:prstGeom>
        </p:spPr>
        <p:txBody>
          <a:bodyPr wrap="square">
            <a:spAutoFit/>
          </a:bodyPr>
          <a:lstStyle/>
          <a:p>
            <a:r>
              <a:rPr lang="es-AR" sz="4800" smtClean="0">
                <a:latin typeface="Agency FB" panose="020B0503020202020204" pitchFamily="34" charset="0"/>
              </a:rPr>
              <a:t>Se brinda como servicio el software en si, un aplicativo que me ofrece una solución. Por ejemplo servicios de mensajería como Outlook y Gmail son buenos ejemplos de SaaS. Google Drive también es otro buen ejemplo y cualquier servicio que me brinde la funcionalidad completa de software desde la nube entra en esta categoría.</a:t>
            </a: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SaaS</a:t>
            </a:r>
          </a:p>
        </p:txBody>
      </p:sp>
    </p:spTree>
    <p:extLst>
      <p:ext uri="{BB962C8B-B14F-4D97-AF65-F5344CB8AC3E}">
        <p14:creationId xmlns:p14="http://schemas.microsoft.com/office/powerpoint/2010/main" val="5938907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5262979"/>
          </a:xfrm>
          <a:prstGeom prst="rect">
            <a:avLst/>
          </a:prstGeom>
        </p:spPr>
        <p:txBody>
          <a:bodyPr wrap="square">
            <a:spAutoFit/>
          </a:bodyPr>
          <a:lstStyle/>
          <a:p>
            <a:pPr marL="685800" indent="-685800">
              <a:buFont typeface="Arial" panose="020B0604020202020204" pitchFamily="34" charset="0"/>
              <a:buChar char="•"/>
            </a:pPr>
            <a:r>
              <a:rPr lang="es-AR" sz="4800" b="1" smtClean="0">
                <a:latin typeface="Agency FB" panose="020B0503020202020204" pitchFamily="34" charset="0"/>
              </a:rPr>
              <a:t>Pública: </a:t>
            </a:r>
            <a:r>
              <a:rPr lang="es-AR" sz="4800" smtClean="0">
                <a:latin typeface="Agency FB" panose="020B0503020202020204" pitchFamily="34" charset="0"/>
              </a:rPr>
              <a:t>son los servicios de cloud que se contratan a través de internet, no se tiene gestión ni acceso a los recursos físicos que permiten implementar esa nube.</a:t>
            </a:r>
          </a:p>
          <a:p>
            <a:pPr marL="685800" indent="-685800">
              <a:buFont typeface="Arial" panose="020B0604020202020204" pitchFamily="34" charset="0"/>
              <a:buChar char="•"/>
            </a:pPr>
            <a:r>
              <a:rPr lang="es-AR" sz="4800" b="1" smtClean="0">
                <a:latin typeface="Agency FB" panose="020B0503020202020204" pitchFamily="34" charset="0"/>
              </a:rPr>
              <a:t>Privada: </a:t>
            </a:r>
            <a:r>
              <a:rPr lang="es-AR" sz="4800" smtClean="0">
                <a:latin typeface="Agency FB" panose="020B0503020202020204" pitchFamily="34" charset="0"/>
              </a:rPr>
              <a:t>Se tiene posesión de la infraestructura donde se implementa la nube. Entidades bancarias por ejemplo suelen implementar nubes privadas para sus sucursales distribuidas geográficamente.</a:t>
            </a: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Nube Pública y Nube Privada</a:t>
            </a:r>
          </a:p>
        </p:txBody>
      </p:sp>
    </p:spTree>
    <p:extLst>
      <p:ext uri="{BB962C8B-B14F-4D97-AF65-F5344CB8AC3E}">
        <p14:creationId xmlns:p14="http://schemas.microsoft.com/office/powerpoint/2010/main" val="40443844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cloudcenterandalucia.es/wp-content/uploads/2021/04/Tabla_IaaS-PaaS-SaaS.png"/>
          <p:cNvPicPr>
            <a:picLocks noChangeAspect="1" noChangeArrowheads="1"/>
          </p:cNvPicPr>
          <p:nvPr/>
        </p:nvPicPr>
        <p:blipFill rotWithShape="1">
          <a:blip r:embed="rId2">
            <a:extLst>
              <a:ext uri="{28A0092B-C50C-407E-A947-70E740481C1C}">
                <a14:useLocalDpi xmlns:a14="http://schemas.microsoft.com/office/drawing/2010/main" val="0"/>
              </a:ext>
            </a:extLst>
          </a:blip>
          <a:srcRect l="4643" t="10639" r="27509" b="10854"/>
          <a:stretch/>
        </p:blipFill>
        <p:spPr bwMode="auto">
          <a:xfrm>
            <a:off x="1274170" y="666750"/>
            <a:ext cx="9773253" cy="5889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5228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4832092"/>
          </a:xfrm>
          <a:prstGeom prst="rect">
            <a:avLst/>
          </a:prstGeom>
        </p:spPr>
        <p:txBody>
          <a:bodyPr wrap="square">
            <a:spAutoFit/>
          </a:bodyPr>
          <a:lstStyle/>
          <a:p>
            <a:r>
              <a:rPr lang="es-AR" sz="4400">
                <a:latin typeface="Agency FB" panose="020B0503020202020204" pitchFamily="34" charset="0"/>
              </a:rPr>
              <a:t>Los contenedores permiten que una aplicación se ejecute de forma consistente y confiable, independientemente del sistema operativo o del ambiente de infraestructura. Los contenedores logran esto agrupando todo lo que un servicio necesita para ejecutarse (el código, el tiempo de ejecución, las herramientas del sistema, las bibliotecas del sistema y la configuración) y crean un paquete portátil, independiente y ejecutable.</a:t>
            </a:r>
            <a:endParaRPr lang="es-AR" sz="28700" smtClean="0">
              <a:latin typeface="Agency FB" panose="020B0503020202020204" pitchFamily="34" charset="0"/>
            </a:endParaRPr>
          </a:p>
        </p:txBody>
      </p:sp>
      <p:sp>
        <p:nvSpPr>
          <p:cNvPr id="5" name="Título 1"/>
          <p:cNvSpPr txBox="1">
            <a:spLocks/>
          </p:cNvSpPr>
          <p:nvPr/>
        </p:nvSpPr>
        <p:spPr>
          <a:xfrm>
            <a:off x="1426571" y="0"/>
            <a:ext cx="9144000" cy="1606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Contenedores</a:t>
            </a:r>
          </a:p>
        </p:txBody>
      </p:sp>
    </p:spTree>
    <p:extLst>
      <p:ext uri="{BB962C8B-B14F-4D97-AF65-F5344CB8AC3E}">
        <p14:creationId xmlns:p14="http://schemas.microsoft.com/office/powerpoint/2010/main" val="6065900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830997"/>
          </a:xfrm>
          <a:prstGeom prst="rect">
            <a:avLst/>
          </a:prstGeom>
        </p:spPr>
        <p:txBody>
          <a:bodyPr wrap="square">
            <a:spAutoFit/>
          </a:bodyPr>
          <a:lstStyle/>
          <a:p>
            <a:endParaRPr lang="es-AR" sz="4800" smtClean="0">
              <a:latin typeface="Agency FB" panose="020B0503020202020204" pitchFamily="34" charset="0"/>
            </a:endParaRPr>
          </a:p>
        </p:txBody>
      </p:sp>
      <p:pic>
        <p:nvPicPr>
          <p:cNvPr id="4098" name="Picture 2" descr="https://1.bp.blogspot.com/-k8Bt7JuDjJE/Xt-2nVwUkbI/AAAAAAADlDQ/7UPGpbSKSWQBG7BONIXX1Jn-us-yPzFnQCLcBGAsYHQ/s1600/ExecutionEnvironmentComparison.png"/>
          <p:cNvPicPr>
            <a:picLocks noChangeAspect="1" noChangeArrowheads="1"/>
          </p:cNvPicPr>
          <p:nvPr/>
        </p:nvPicPr>
        <p:blipFill rotWithShape="1">
          <a:blip r:embed="rId2">
            <a:extLst>
              <a:ext uri="{28A0092B-C50C-407E-A947-70E740481C1C}">
                <a14:useLocalDpi xmlns:a14="http://schemas.microsoft.com/office/drawing/2010/main" val="0"/>
              </a:ext>
            </a:extLst>
          </a:blip>
          <a:srcRect l="69213"/>
          <a:stretch/>
        </p:blipFill>
        <p:spPr bwMode="auto">
          <a:xfrm>
            <a:off x="3733799" y="530132"/>
            <a:ext cx="4857751" cy="6077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8965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33350" y="1606983"/>
            <a:ext cx="12058650" cy="830997"/>
          </a:xfrm>
          <a:prstGeom prst="rect">
            <a:avLst/>
          </a:prstGeom>
        </p:spPr>
        <p:txBody>
          <a:bodyPr wrap="square">
            <a:spAutoFit/>
          </a:bodyPr>
          <a:lstStyle/>
          <a:p>
            <a:endParaRPr lang="es-AR" sz="4800" smtClean="0">
              <a:latin typeface="Agency FB" panose="020B0503020202020204" pitchFamily="34" charset="0"/>
            </a:endParaRPr>
          </a:p>
        </p:txBody>
      </p:sp>
      <p:pic>
        <p:nvPicPr>
          <p:cNvPr id="1026" name="Picture 2" descr="3007_virtualization-via-containers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6050" y="1298666"/>
            <a:ext cx="6953250" cy="5162550"/>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p:cNvSpPr txBox="1">
            <a:spLocks/>
          </p:cNvSpPr>
          <p:nvPr/>
        </p:nvSpPr>
        <p:spPr>
          <a:xfrm>
            <a:off x="1034685" y="0"/>
            <a:ext cx="9144000" cy="1058091"/>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Esquema Híbrido: uso de VM y Containers</a:t>
            </a:r>
            <a:endParaRPr lang="es-AR" sz="7200" smtClean="0">
              <a:solidFill>
                <a:srgbClr val="FF0000"/>
              </a:solidFill>
              <a:latin typeface="Haettenschweiler" panose="020B0706040902060204" pitchFamily="34" charset="0"/>
            </a:endParaRPr>
          </a:p>
        </p:txBody>
      </p:sp>
    </p:spTree>
    <p:extLst>
      <p:ext uri="{BB962C8B-B14F-4D97-AF65-F5344CB8AC3E}">
        <p14:creationId xmlns:p14="http://schemas.microsoft.com/office/powerpoint/2010/main" val="30740355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734291" y="2650981"/>
            <a:ext cx="11457709" cy="954107"/>
          </a:xfrm>
          <a:prstGeom prst="rect">
            <a:avLst/>
          </a:prstGeom>
        </p:spPr>
        <p:txBody>
          <a:bodyPr wrap="square">
            <a:spAutoFit/>
          </a:bodyPr>
          <a:lstStyle/>
          <a:p>
            <a:r>
              <a:rPr lang="es-AR" sz="2800" smtClean="0"/>
              <a:t/>
            </a:r>
            <a:br>
              <a:rPr lang="es-AR" sz="2800" smtClean="0"/>
            </a:br>
            <a:endParaRPr lang="es-AR" sz="2800"/>
          </a:p>
        </p:txBody>
      </p:sp>
      <p:sp>
        <p:nvSpPr>
          <p:cNvPr id="5" name="Título 1"/>
          <p:cNvSpPr txBox="1">
            <a:spLocks/>
          </p:cNvSpPr>
          <p:nvPr/>
        </p:nvSpPr>
        <p:spPr>
          <a:xfrm>
            <a:off x="1524000" y="263381"/>
            <a:ext cx="9144000" cy="14347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AR" sz="7200" smtClean="0">
                <a:solidFill>
                  <a:srgbClr val="FF0000"/>
                </a:solidFill>
                <a:latin typeface="Haettenschweiler" panose="020B0706040902060204" pitchFamily="34" charset="0"/>
              </a:rPr>
              <a:t>BIBLIOGRAFÍA</a:t>
            </a:r>
            <a:endParaRPr lang="es-AR" sz="7200">
              <a:solidFill>
                <a:srgbClr val="FF0000"/>
              </a:solidFill>
              <a:latin typeface="Haettenschweiler" panose="020B0706040902060204" pitchFamily="34" charset="0"/>
            </a:endParaRPr>
          </a:p>
        </p:txBody>
      </p:sp>
      <p:sp>
        <p:nvSpPr>
          <p:cNvPr id="6" name="Rectángulo 5"/>
          <p:cNvSpPr/>
          <p:nvPr/>
        </p:nvSpPr>
        <p:spPr>
          <a:xfrm>
            <a:off x="240276" y="1888145"/>
            <a:ext cx="12081165" cy="8710077"/>
          </a:xfrm>
          <a:prstGeom prst="rect">
            <a:avLst/>
          </a:prstGeom>
        </p:spPr>
        <p:txBody>
          <a:bodyPr wrap="square">
            <a:spAutoFit/>
          </a:bodyPr>
          <a:lstStyle/>
          <a:p>
            <a:pPr marL="457200" indent="-457200">
              <a:buFont typeface="Arial" panose="020B0604020202020204" pitchFamily="34" charset="0"/>
              <a:buChar char="•"/>
            </a:pPr>
            <a:r>
              <a:rPr lang="es-AR" sz="2800" b="1" smtClean="0"/>
              <a:t>Material Online:</a:t>
            </a:r>
          </a:p>
          <a:p>
            <a:pPr marL="914400" lvl="1" indent="-457200">
              <a:buFont typeface="Wingdings" panose="05000000000000000000" pitchFamily="2" charset="2"/>
              <a:buChar char="Ø"/>
            </a:pPr>
            <a:r>
              <a:rPr lang="es-AR" sz="2800" b="1">
                <a:hlinkClick r:id="rId2"/>
              </a:rPr>
              <a:t>https://azure.microsoft.com/es-es/overview/what-is-a-virtual-machine</a:t>
            </a:r>
            <a:r>
              <a:rPr lang="es-AR" sz="2800" b="1" smtClean="0">
                <a:hlinkClick r:id="rId2"/>
              </a:rPr>
              <a:t>/</a:t>
            </a:r>
            <a:endParaRPr lang="es-AR" sz="2800" b="1" smtClean="0"/>
          </a:p>
          <a:p>
            <a:pPr marL="914400" lvl="1" indent="-457200">
              <a:buFont typeface="Wingdings" panose="05000000000000000000" pitchFamily="2" charset="2"/>
              <a:buChar char="Ø"/>
            </a:pPr>
            <a:r>
              <a:rPr lang="es-AR" sz="2800" b="1">
                <a:hlinkClick r:id="rId3"/>
              </a:rPr>
              <a:t>https://</a:t>
            </a:r>
            <a:r>
              <a:rPr lang="es-AR" sz="2800" b="1" smtClean="0">
                <a:hlinkClick r:id="rId3"/>
              </a:rPr>
              <a:t>searchservervirtualization.techtarget.com/feature/Whats-the-difference-between-Type-1-and-Type-2-hypervisors</a:t>
            </a:r>
            <a:endParaRPr lang="es-AR" sz="2800" b="1" smtClean="0"/>
          </a:p>
          <a:p>
            <a:pPr marL="914400" lvl="1" indent="-457200">
              <a:buFont typeface="Wingdings" panose="05000000000000000000" pitchFamily="2" charset="2"/>
              <a:buChar char="Ø"/>
            </a:pPr>
            <a:r>
              <a:rPr lang="es-AR" sz="2800" b="1">
                <a:hlinkClick r:id="rId4"/>
              </a:rPr>
              <a:t>https://</a:t>
            </a:r>
            <a:r>
              <a:rPr lang="es-AR" sz="2800" b="1" smtClean="0">
                <a:hlinkClick r:id="rId4"/>
              </a:rPr>
              <a:t>www.dnsstuff.com/what-is-hypervisor</a:t>
            </a:r>
            <a:endParaRPr lang="es-AR" sz="2800" b="1" smtClean="0"/>
          </a:p>
          <a:p>
            <a:pPr marL="914400" lvl="1" indent="-457200">
              <a:buFont typeface="Wingdings" panose="05000000000000000000" pitchFamily="2" charset="2"/>
              <a:buChar char="Ø"/>
            </a:pPr>
            <a:r>
              <a:rPr lang="es-AR" sz="2800" b="1">
                <a:hlinkClick r:id="rId5"/>
              </a:rPr>
              <a:t>https://</a:t>
            </a:r>
            <a:r>
              <a:rPr lang="es-AR" sz="2800" b="1" smtClean="0">
                <a:hlinkClick r:id="rId5"/>
              </a:rPr>
              <a:t>blog.techdata.com/ts/latam/tecnolog%C3%ADa-de-contenedores-movi%C3%A9ndose-en-un-flujo-continuo</a:t>
            </a:r>
            <a:endParaRPr lang="es-AR" sz="2800" b="1" smtClean="0"/>
          </a:p>
          <a:p>
            <a:pPr marL="914400" lvl="1" indent="-457200">
              <a:buFont typeface="Wingdings" panose="05000000000000000000" pitchFamily="2" charset="2"/>
              <a:buChar char="Ø"/>
            </a:pPr>
            <a:r>
              <a:rPr lang="es-AR" sz="2800" b="1">
                <a:hlinkClick r:id="rId6"/>
              </a:rPr>
              <a:t>https://insights.sei.cmu.edu/blog/virtualization-via-containers/#:~:</a:t>
            </a:r>
            <a:r>
              <a:rPr lang="es-AR" sz="2800" b="1">
                <a:hlinkClick r:id="rId6"/>
              </a:rPr>
              <a:t>text=A%20hybrid%20container%20architecture%20is,also%20known%20as%20hybrid%20containerization</a:t>
            </a:r>
            <a:r>
              <a:rPr lang="es-AR" sz="2800" b="1" smtClean="0"/>
              <a:t>.</a:t>
            </a:r>
          </a:p>
          <a:p>
            <a:pPr marL="914400" lvl="1" indent="-457200">
              <a:buFont typeface="Wingdings" panose="05000000000000000000" pitchFamily="2" charset="2"/>
              <a:buChar char="Ø"/>
            </a:pPr>
            <a:endParaRPr lang="es-AR" sz="2800" b="1" smtClean="0"/>
          </a:p>
          <a:p>
            <a:pPr marL="914400" lvl="1" indent="-457200">
              <a:buFont typeface="Wingdings" panose="05000000000000000000" pitchFamily="2" charset="2"/>
              <a:buChar char="Ø"/>
            </a:pPr>
            <a:endParaRPr lang="es-AR" sz="2800" b="1"/>
          </a:p>
          <a:p>
            <a:pPr marL="914400" lvl="1" indent="-457200">
              <a:buFont typeface="Wingdings" panose="05000000000000000000" pitchFamily="2" charset="2"/>
              <a:buChar char="Ø"/>
            </a:pPr>
            <a:endParaRPr lang="es-AR" sz="2800" b="1"/>
          </a:p>
          <a:p>
            <a:pPr marL="914400" lvl="1" indent="-457200">
              <a:buFont typeface="Wingdings" panose="05000000000000000000" pitchFamily="2" charset="2"/>
              <a:buChar char="Ø"/>
            </a:pPr>
            <a:endParaRPr lang="es-AR" sz="2800" b="1"/>
          </a:p>
          <a:p>
            <a:pPr marL="914400" lvl="1" indent="-457200">
              <a:buFont typeface="Wingdings" panose="05000000000000000000" pitchFamily="2" charset="2"/>
              <a:buChar char="Ø"/>
            </a:pPr>
            <a:endParaRPr lang="es-AR" sz="2800" b="1" smtClean="0"/>
          </a:p>
          <a:p>
            <a:pPr marL="914400" lvl="1" indent="-457200">
              <a:buFont typeface="Wingdings" panose="05000000000000000000" pitchFamily="2" charset="2"/>
              <a:buChar char="Ø"/>
            </a:pPr>
            <a:endParaRPr lang="es-AR" sz="2800" b="1" smtClean="0"/>
          </a:p>
          <a:p>
            <a:pPr marL="914400" lvl="1" indent="-457200">
              <a:buFont typeface="Wingdings" panose="05000000000000000000" pitchFamily="2" charset="2"/>
              <a:buChar char="Ø"/>
            </a:pPr>
            <a:endParaRPr lang="es-AR" sz="2800" b="1" smtClean="0"/>
          </a:p>
          <a:p>
            <a:pPr marL="914400" lvl="1" indent="-457200">
              <a:buFont typeface="Wingdings" panose="05000000000000000000" pitchFamily="2" charset="2"/>
              <a:buChar char="Ø"/>
            </a:pPr>
            <a:endParaRPr lang="es-AR" sz="2800" b="1" smtClean="0"/>
          </a:p>
          <a:p>
            <a:pPr lvl="1"/>
            <a:endParaRPr lang="es-AR" sz="2800" b="1" smtClean="0"/>
          </a:p>
          <a:p>
            <a:pPr marL="914400" lvl="1" indent="-457200">
              <a:buFont typeface="Arial" panose="020B0604020202020204" pitchFamily="34" charset="0"/>
              <a:buChar char="•"/>
            </a:pPr>
            <a:endParaRPr lang="es-AR" sz="2800" b="1"/>
          </a:p>
        </p:txBody>
      </p:sp>
    </p:spTree>
    <p:extLst>
      <p:ext uri="{BB962C8B-B14F-4D97-AF65-F5344CB8AC3E}">
        <p14:creationId xmlns:p14="http://schemas.microsoft.com/office/powerpoint/2010/main" val="6744027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8460</TotalTime>
  <Words>709</Words>
  <Application>Microsoft Office PowerPoint</Application>
  <PresentationFormat>Panorámica</PresentationFormat>
  <Paragraphs>82</Paragraphs>
  <Slides>26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Agency FB</vt:lpstr>
      <vt:lpstr>Arial</vt:lpstr>
      <vt:lpstr>Calibri</vt:lpstr>
      <vt:lpstr>Calibri Light</vt:lpstr>
      <vt:lpstr>Haettenschweiler</vt:lpstr>
      <vt:lpstr>Lucida Console</vt:lpstr>
      <vt:lpstr>Wingdings</vt:lpstr>
      <vt:lpstr>Tema de Office</vt:lpstr>
      <vt:lpstr>Virtualización, Contenedores y Computación en la Nube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DAAS</dc:creator>
  <cp:lastModifiedBy>DAAS</cp:lastModifiedBy>
  <cp:revision>233</cp:revision>
  <dcterms:created xsi:type="dcterms:W3CDTF">2021-08-25T04:10:19Z</dcterms:created>
  <dcterms:modified xsi:type="dcterms:W3CDTF">2021-11-04T19:22:50Z</dcterms:modified>
</cp:coreProperties>
</file>