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70" r:id="rId4"/>
    <p:sldId id="266" r:id="rId5"/>
    <p:sldId id="268" r:id="rId6"/>
    <p:sldId id="264" r:id="rId7"/>
    <p:sldId id="279" r:id="rId8"/>
    <p:sldId id="265" r:id="rId9"/>
    <p:sldId id="271" r:id="rId10"/>
    <p:sldId id="262" r:id="rId11"/>
    <p:sldId id="272" r:id="rId12"/>
    <p:sldId id="273" r:id="rId13"/>
    <p:sldId id="278" r:id="rId14"/>
    <p:sldId id="274" r:id="rId15"/>
    <p:sldId id="276" r:id="rId16"/>
    <p:sldId id="277" r:id="rId17"/>
    <p:sldId id="281" r:id="rId18"/>
    <p:sldId id="282" r:id="rId19"/>
    <p:sldId id="283" r:id="rId20"/>
    <p:sldId id="284" r:id="rId21"/>
    <p:sldId id="285" r:id="rId22"/>
    <p:sldId id="286" r:id="rId23"/>
    <p:sldId id="287" r:id="rId24"/>
    <p:sldId id="260" r:id="rId25"/>
    <p:sldId id="258" r:id="rId26"/>
    <p:sldId id="261" r:id="rId27"/>
    <p:sldId id="267" r:id="rId28"/>
    <p:sldId id="269" r:id="rId29"/>
    <p:sldId id="280" r:id="rId30"/>
    <p:sldId id="288" r:id="rId31"/>
    <p:sldId id="291" r:id="rId32"/>
    <p:sldId id="292" r:id="rId33"/>
    <p:sldId id="294" r:id="rId34"/>
    <p:sldId id="295" r:id="rId35"/>
    <p:sldId id="298" r:id="rId36"/>
    <p:sldId id="290" r:id="rId37"/>
    <p:sldId id="297" r:id="rId38"/>
    <p:sldId id="296" r:id="rId39"/>
    <p:sldId id="299" r:id="rId40"/>
    <p:sldId id="300" r:id="rId41"/>
    <p:sldId id="301" r:id="rId42"/>
    <p:sldId id="337" r:id="rId43"/>
    <p:sldId id="336" r:id="rId44"/>
    <p:sldId id="308" r:id="rId45"/>
    <p:sldId id="307" r:id="rId46"/>
    <p:sldId id="312" r:id="rId47"/>
    <p:sldId id="338" r:id="rId48"/>
    <p:sldId id="313" r:id="rId49"/>
    <p:sldId id="306"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2" r:id="rId68"/>
    <p:sldId id="333" r:id="rId69"/>
    <p:sldId id="334" r:id="rId70"/>
    <p:sldId id="335" r:id="rId71"/>
    <p:sldId id="302"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5/28/2024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‹Nº›</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5/28/2024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5/28/2024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5/28/2024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5/28/2024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5/28/2024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5/28/2024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5/28/2024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5/28/2024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‹Nº›</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8" Type="http://schemas.openxmlformats.org/officeDocument/2006/relationships/hyperlink" Target="https://openvpn.net/" TargetMode="External"/><Relationship Id="rId3" Type="http://schemas.openxmlformats.org/officeDocument/2006/relationships/hyperlink" Target="https://developer.mozilla.org/es/docs/Web/HTTP/Overview" TargetMode="External"/><Relationship Id="rId7" Type="http://schemas.openxmlformats.org/officeDocument/2006/relationships/hyperlink" Target="https://www.wireguard.com/" TargetMode="External"/><Relationship Id="rId2" Type="http://schemas.openxmlformats.org/officeDocument/2006/relationships/hyperlink" Target="https://developer.mozilla.org/es/docs/Learn/Common_questions/What_is_a_domain_name" TargetMode="External"/><Relationship Id="rId1" Type="http://schemas.openxmlformats.org/officeDocument/2006/relationships/slideLayout" Target="../slideLayouts/slideLayout2.xml"/><Relationship Id="rId6" Type="http://schemas.openxmlformats.org/officeDocument/2006/relationships/hyperlink" Target="https://www.kaspersky.es/resource-center/definitions/what-is-a-vpn" TargetMode="External"/><Relationship Id="rId5" Type="http://schemas.openxmlformats.org/officeDocument/2006/relationships/hyperlink" Target="https://latam.kaspersky.com/resource-center/definitions/firewall" TargetMode="External"/><Relationship Id="rId4" Type="http://schemas.openxmlformats.org/officeDocument/2006/relationships/hyperlink" Target="https://httpwg.org/specs/" TargetMode="External"/><Relationship Id="rId9" Type="http://schemas.openxmlformats.org/officeDocument/2006/relationships/hyperlink" Target="https://www.torproject.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smtClean="0"/>
              <a:t>Introducción a Redes</a:t>
            </a:r>
            <a:endParaRPr lang="es-AR" dirty="0"/>
          </a:p>
        </p:txBody>
      </p:sp>
    </p:spTree>
    <p:extLst>
      <p:ext uri="{BB962C8B-B14F-4D97-AF65-F5344CB8AC3E}">
        <p14:creationId xmlns:p14="http://schemas.microsoft.com/office/powerpoint/2010/main" val="30121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Interacción de equipamiento en red</a:t>
            </a:r>
            <a:endParaRPr lang="es-AR" dirty="0"/>
          </a:p>
        </p:txBody>
      </p:sp>
      <p:pic>
        <p:nvPicPr>
          <p:cNvPr id="5" name="Marcador de contenido 4"/>
          <p:cNvPicPr>
            <a:picLocks noGrp="1" noChangeAspect="1"/>
          </p:cNvPicPr>
          <p:nvPr>
            <p:ph idx="1"/>
          </p:nvPr>
        </p:nvPicPr>
        <p:blipFill>
          <a:blip r:embed="rId2"/>
          <a:stretch>
            <a:fillRect/>
          </a:stretch>
        </p:blipFill>
        <p:spPr>
          <a:xfrm>
            <a:off x="1371600" y="2411731"/>
            <a:ext cx="10490196" cy="2666998"/>
          </a:xfrm>
          <a:prstGeom prst="rect">
            <a:avLst/>
          </a:prstGeom>
        </p:spPr>
      </p:pic>
    </p:spTree>
    <p:extLst>
      <p:ext uri="{BB962C8B-B14F-4D97-AF65-F5344CB8AC3E}">
        <p14:creationId xmlns:p14="http://schemas.microsoft.com/office/powerpoint/2010/main" val="10346425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Interacción de equipamiento en red</a:t>
            </a:r>
            <a:endParaRPr lang="es-AR" dirty="0"/>
          </a:p>
        </p:txBody>
      </p:sp>
      <p:pic>
        <p:nvPicPr>
          <p:cNvPr id="5" name="Marcador de contenido 4"/>
          <p:cNvPicPr>
            <a:picLocks noGrp="1" noChangeAspect="1"/>
          </p:cNvPicPr>
          <p:nvPr>
            <p:ph idx="1"/>
          </p:nvPr>
        </p:nvPicPr>
        <p:blipFill>
          <a:blip r:embed="rId2"/>
          <a:stretch>
            <a:fillRect/>
          </a:stretch>
        </p:blipFill>
        <p:spPr>
          <a:xfrm>
            <a:off x="1371600" y="2411731"/>
            <a:ext cx="10490196" cy="2666998"/>
          </a:xfrm>
          <a:prstGeom prst="rect">
            <a:avLst/>
          </a:prstGeom>
        </p:spPr>
      </p:pic>
      <p:sp>
        <p:nvSpPr>
          <p:cNvPr id="3" name="Elipse 2"/>
          <p:cNvSpPr/>
          <p:nvPr/>
        </p:nvSpPr>
        <p:spPr>
          <a:xfrm>
            <a:off x="2366010" y="4217670"/>
            <a:ext cx="3486150" cy="861059"/>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7039729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371600" y="377190"/>
            <a:ext cx="9601200" cy="937260"/>
          </a:xfrm>
        </p:spPr>
        <p:txBody>
          <a:bodyPr/>
          <a:lstStyle/>
          <a:p>
            <a:r>
              <a:rPr lang="es-AR" dirty="0" smtClean="0"/>
              <a:t>Modelos OSI y TCP/IP</a:t>
            </a:r>
            <a:endParaRPr lang="es-AR" dirty="0"/>
          </a:p>
        </p:txBody>
      </p:sp>
      <p:pic>
        <p:nvPicPr>
          <p:cNvPr id="9" name="Marcador de contenido 8"/>
          <p:cNvPicPr>
            <a:picLocks noGrp="1" noChangeAspect="1"/>
          </p:cNvPicPr>
          <p:nvPr>
            <p:ph idx="1"/>
          </p:nvPr>
        </p:nvPicPr>
        <p:blipFill>
          <a:blip r:embed="rId2"/>
          <a:stretch>
            <a:fillRect/>
          </a:stretch>
        </p:blipFill>
        <p:spPr>
          <a:xfrm>
            <a:off x="1165860" y="1550481"/>
            <a:ext cx="10721340" cy="5121018"/>
          </a:xfrm>
          <a:prstGeom prst="rect">
            <a:avLst/>
          </a:prstGeom>
        </p:spPr>
      </p:pic>
    </p:spTree>
    <p:extLst>
      <p:ext uri="{BB962C8B-B14F-4D97-AF65-F5344CB8AC3E}">
        <p14:creationId xmlns:p14="http://schemas.microsoft.com/office/powerpoint/2010/main" val="19889338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https://i.stack.imgur.com/WtFou.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5889" y="432538"/>
            <a:ext cx="10378442" cy="6259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8491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Tipos de redes</a:t>
            </a:r>
            <a:endParaRPr lang="es-AR" dirty="0"/>
          </a:p>
        </p:txBody>
      </p:sp>
      <p:pic>
        <p:nvPicPr>
          <p:cNvPr id="8" name="Picture 6" descr="09-05"/>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9360"/>
          <a:stretch/>
        </p:blipFill>
        <p:spPr bwMode="auto">
          <a:xfrm>
            <a:off x="2880359" y="2122358"/>
            <a:ext cx="6583682" cy="3810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4509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Capa de Enlace</a:t>
            </a:r>
            <a:endParaRPr lang="es-AR" dirty="0"/>
          </a:p>
        </p:txBody>
      </p:sp>
      <p:sp>
        <p:nvSpPr>
          <p:cNvPr id="3" name="Marcador de contenido 2"/>
          <p:cNvSpPr>
            <a:spLocks noGrp="1"/>
          </p:cNvSpPr>
          <p:nvPr>
            <p:ph idx="1"/>
          </p:nvPr>
        </p:nvSpPr>
        <p:spPr>
          <a:xfrm>
            <a:off x="1371600" y="1606060"/>
            <a:ext cx="9601200" cy="4691869"/>
          </a:xfrm>
        </p:spPr>
        <p:txBody>
          <a:bodyPr>
            <a:noAutofit/>
          </a:bodyPr>
          <a:lstStyle/>
          <a:p>
            <a:r>
              <a:rPr lang="es-AR" dirty="0" smtClean="0"/>
              <a:t>Es una interfaz entre los hosts y los enlaces de transmisión.</a:t>
            </a:r>
          </a:p>
          <a:p>
            <a:r>
              <a:rPr lang="es-ES" dirty="0" smtClean="0"/>
              <a:t>Define en cómo se transformará la información de lo lógico a lo físico: pasar los bits a señales del medio físico y viceversa.</a:t>
            </a:r>
            <a:endParaRPr lang="es-AR" dirty="0" smtClean="0"/>
          </a:p>
          <a:p>
            <a:r>
              <a:rPr lang="es-AR" dirty="0" smtClean="0"/>
              <a:t>Los dispositivos se definen mediante direcciones físicas llamadas MAC (Media Access Control) que están compuestas por 48 bits y representados en hexadecimal (para interpretación humana) tomando de a 4 bits. </a:t>
            </a:r>
            <a:r>
              <a:rPr lang="es-AR" dirty="0"/>
              <a:t>Por </a:t>
            </a:r>
            <a:r>
              <a:rPr lang="es-AR" dirty="0" smtClean="0"/>
              <a:t>ejemplo: </a:t>
            </a:r>
            <a:r>
              <a:rPr lang="es-AR" b="1" dirty="0">
                <a:solidFill>
                  <a:srgbClr val="FF0000"/>
                </a:solidFill>
              </a:rPr>
              <a:t>74-29-AF-86-5D-E0</a:t>
            </a:r>
            <a:endParaRPr lang="es-AR" b="1" dirty="0" smtClean="0">
              <a:solidFill>
                <a:srgbClr val="FF0000"/>
              </a:solidFill>
            </a:endParaRPr>
          </a:p>
          <a:p>
            <a:r>
              <a:rPr lang="es-AR" dirty="0" smtClean="0"/>
              <a:t>Dentro de los protocolos que podemos encontrar acá están:</a:t>
            </a:r>
          </a:p>
          <a:p>
            <a:pPr lvl="1"/>
            <a:r>
              <a:rPr lang="es-ES" dirty="0" smtClean="0"/>
              <a:t>LLC (</a:t>
            </a:r>
            <a:r>
              <a:rPr lang="es-ES" dirty="0" err="1" smtClean="0"/>
              <a:t>Logical</a:t>
            </a:r>
            <a:r>
              <a:rPr lang="es-ES" dirty="0" smtClean="0"/>
              <a:t> Link Control): Define como se transfieren los datos en el medio físico. Definido en la normativa IEEE 802.2</a:t>
            </a:r>
            <a:endParaRPr lang="es-AR" dirty="0" smtClean="0"/>
          </a:p>
          <a:p>
            <a:pPr lvl="1"/>
            <a:r>
              <a:rPr lang="es-AR" dirty="0"/>
              <a:t>IEEE </a:t>
            </a:r>
            <a:r>
              <a:rPr lang="es-AR" dirty="0" smtClean="0"/>
              <a:t>802.11: Normativas que describen protocolos para redes </a:t>
            </a:r>
            <a:r>
              <a:rPr lang="es-AR" dirty="0" err="1" smtClean="0"/>
              <a:t>WiFi</a:t>
            </a:r>
            <a:r>
              <a:rPr lang="es-AR" dirty="0" smtClean="0"/>
              <a:t> </a:t>
            </a:r>
          </a:p>
          <a:p>
            <a:pPr lvl="1"/>
            <a:r>
              <a:rPr lang="es-AR" dirty="0"/>
              <a:t>IEEE </a:t>
            </a:r>
            <a:r>
              <a:rPr lang="es-AR" dirty="0" smtClean="0"/>
              <a:t>802.3: Normativas que describen la familia de protocolos Ethernet</a:t>
            </a:r>
          </a:p>
          <a:p>
            <a:pPr lvl="1"/>
            <a:r>
              <a:rPr lang="es-ES" dirty="0" smtClean="0"/>
              <a:t>Otras como HDLC, PPP, </a:t>
            </a:r>
            <a:r>
              <a:rPr lang="es-ES" dirty="0" err="1" smtClean="0"/>
              <a:t>Wimax</a:t>
            </a:r>
            <a:r>
              <a:rPr lang="es-ES" dirty="0" smtClean="0"/>
              <a:t> etc…</a:t>
            </a:r>
            <a:endParaRPr lang="es-AR" dirty="0" smtClean="0"/>
          </a:p>
          <a:p>
            <a:pPr lvl="1"/>
            <a:endParaRPr lang="es-ES" dirty="0"/>
          </a:p>
          <a:p>
            <a:pPr marL="530352" lvl="1" indent="0">
              <a:buNone/>
            </a:pPr>
            <a:endParaRPr lang="es-AR" dirty="0"/>
          </a:p>
          <a:p>
            <a:pPr marL="530352" lvl="1" indent="0">
              <a:buNone/>
            </a:pPr>
            <a:r>
              <a:rPr lang="es-AR" dirty="0"/>
              <a:t/>
            </a:r>
            <a:br>
              <a:rPr lang="es-AR" dirty="0"/>
            </a:br>
            <a:endParaRPr lang="es-AR" dirty="0"/>
          </a:p>
        </p:txBody>
      </p:sp>
    </p:spTree>
    <p:extLst>
      <p:ext uri="{BB962C8B-B14F-4D97-AF65-F5344CB8AC3E}">
        <p14:creationId xmlns:p14="http://schemas.microsoft.com/office/powerpoint/2010/main" val="4104952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solidFill>
                  <a:schemeClr val="bg1"/>
                </a:solidFill>
              </a:rPr>
              <a:t>Capa de Enlace</a:t>
            </a:r>
            <a:endParaRPr lang="es-AR" dirty="0">
              <a:solidFill>
                <a:schemeClr val="bg1"/>
              </a:solidFill>
            </a:endParaRPr>
          </a:p>
        </p:txBody>
      </p:sp>
      <p:sp>
        <p:nvSpPr>
          <p:cNvPr id="3" name="Marcador de contenido 2"/>
          <p:cNvSpPr>
            <a:spLocks noGrp="1"/>
          </p:cNvSpPr>
          <p:nvPr>
            <p:ph idx="1"/>
          </p:nvPr>
        </p:nvSpPr>
        <p:spPr>
          <a:xfrm>
            <a:off x="1371600" y="1606061"/>
            <a:ext cx="9601200" cy="737089"/>
          </a:xfrm>
        </p:spPr>
        <p:txBody>
          <a:bodyPr>
            <a:noAutofit/>
          </a:bodyPr>
          <a:lstStyle/>
          <a:p>
            <a:pPr marL="0" indent="0">
              <a:buNone/>
            </a:pPr>
            <a:r>
              <a:rPr lang="es-AR" sz="2400" dirty="0" smtClean="0">
                <a:solidFill>
                  <a:schemeClr val="bg1"/>
                </a:solidFill>
              </a:rPr>
              <a:t>Ejemplo de información física del adaptador de red del equipo: Está informando el tipo de dispositivo de red (wifi para el caso) y su MAC</a:t>
            </a:r>
          </a:p>
          <a:p>
            <a:pPr marL="0" indent="0">
              <a:buNone/>
            </a:pPr>
            <a:r>
              <a:rPr lang="es-AR" sz="2400" dirty="0">
                <a:solidFill>
                  <a:schemeClr val="bg1"/>
                </a:solidFill>
              </a:rPr>
              <a:t/>
            </a:r>
            <a:br>
              <a:rPr lang="es-AR" sz="2400" dirty="0">
                <a:solidFill>
                  <a:schemeClr val="bg1"/>
                </a:solidFill>
              </a:rPr>
            </a:br>
            <a:endParaRPr lang="es-AR" sz="2400" dirty="0">
              <a:solidFill>
                <a:schemeClr val="bg1"/>
              </a:solidFill>
            </a:endParaRPr>
          </a:p>
        </p:txBody>
      </p:sp>
      <p:pic>
        <p:nvPicPr>
          <p:cNvPr id="4" name="Imagen 3"/>
          <p:cNvPicPr>
            <a:picLocks noChangeAspect="1"/>
          </p:cNvPicPr>
          <p:nvPr/>
        </p:nvPicPr>
        <p:blipFill>
          <a:blip r:embed="rId2"/>
          <a:stretch>
            <a:fillRect/>
          </a:stretch>
        </p:blipFill>
        <p:spPr>
          <a:xfrm>
            <a:off x="948648" y="2537801"/>
            <a:ext cx="10447104" cy="3862658"/>
          </a:xfrm>
          <a:prstGeom prst="rect">
            <a:avLst/>
          </a:prstGeom>
        </p:spPr>
      </p:pic>
      <p:sp>
        <p:nvSpPr>
          <p:cNvPr id="6" name="Rectángulo 5"/>
          <p:cNvSpPr/>
          <p:nvPr/>
        </p:nvSpPr>
        <p:spPr>
          <a:xfrm>
            <a:off x="6240780" y="3183741"/>
            <a:ext cx="5006340" cy="5995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650586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371600" y="251460"/>
            <a:ext cx="9601200" cy="891540"/>
          </a:xfrm>
        </p:spPr>
        <p:txBody>
          <a:bodyPr>
            <a:normAutofit/>
          </a:bodyPr>
          <a:lstStyle/>
          <a:p>
            <a:r>
              <a:rPr lang="es-AR" dirty="0" smtClean="0"/>
              <a:t>Ethernet</a:t>
            </a:r>
            <a:endParaRPr lang="es-AR" dirty="0"/>
          </a:p>
        </p:txBody>
      </p:sp>
      <p:pic>
        <p:nvPicPr>
          <p:cNvPr id="5" name="Picture 7" descr="09-18"/>
          <p:cNvPicPr>
            <a:picLocks noGrp="1" noChangeAspect="1" noChangeArrowheads="1"/>
          </p:cNvPicPr>
          <p:nvPr>
            <p:ph idx="1"/>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645920" y="1143000"/>
            <a:ext cx="9326880" cy="5492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198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Capa de Red</a:t>
            </a:r>
            <a:br>
              <a:rPr lang="es-ES" dirty="0" smtClean="0"/>
            </a:br>
            <a:r>
              <a:rPr lang="es-ES" dirty="0" smtClean="0"/>
              <a:t>(Network/Internet </a:t>
            </a:r>
            <a:r>
              <a:rPr lang="es-ES" dirty="0" err="1" smtClean="0"/>
              <a:t>Layer</a:t>
            </a:r>
            <a:r>
              <a:rPr lang="es-ES" dirty="0" smtClean="0"/>
              <a:t>)</a:t>
            </a:r>
            <a:endParaRPr lang="es-AR" dirty="0"/>
          </a:p>
        </p:txBody>
      </p:sp>
      <p:pic>
        <p:nvPicPr>
          <p:cNvPr id="4" name="Picture 5"/>
          <p:cNvPicPr>
            <a:picLocks noGrp="1" noChangeAspect="1" noChangeArrowheads="1"/>
          </p:cNvPicPr>
          <p:nvPr>
            <p:ph idx="1"/>
          </p:nvPr>
        </p:nvPicPr>
        <p:blipFill>
          <a:blip r:embed="rId2">
            <a:lum bright="-26000" contrast="47000"/>
            <a:extLst>
              <a:ext uri="{28A0092B-C50C-407E-A947-70E740481C1C}">
                <a14:useLocalDpi xmlns:a14="http://schemas.microsoft.com/office/drawing/2010/main" val="0"/>
              </a:ext>
            </a:extLst>
          </a:blip>
          <a:srcRect/>
          <a:stretch>
            <a:fillRect/>
          </a:stretch>
        </p:blipFill>
        <p:spPr>
          <a:xfrm>
            <a:off x="2274569" y="2573353"/>
            <a:ext cx="7795262" cy="3006694"/>
          </a:xfrm>
        </p:spPr>
      </p:pic>
    </p:spTree>
    <p:extLst>
      <p:ext uri="{BB962C8B-B14F-4D97-AF65-F5344CB8AC3E}">
        <p14:creationId xmlns:p14="http://schemas.microsoft.com/office/powerpoint/2010/main" val="337765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Capa de Red</a:t>
            </a:r>
            <a:br>
              <a:rPr lang="es-ES" dirty="0" smtClean="0"/>
            </a:br>
            <a:r>
              <a:rPr lang="es-ES" dirty="0" smtClean="0"/>
              <a:t>(Network/Internet </a:t>
            </a:r>
            <a:r>
              <a:rPr lang="es-ES" dirty="0" err="1" smtClean="0"/>
              <a:t>Layer</a:t>
            </a:r>
            <a:r>
              <a:rPr lang="es-ES" dirty="0" smtClean="0"/>
              <a:t>)</a:t>
            </a:r>
            <a:endParaRPr lang="es-AR" dirty="0"/>
          </a:p>
        </p:txBody>
      </p:sp>
      <p:sp>
        <p:nvSpPr>
          <p:cNvPr id="3" name="Marcador de contenido 2"/>
          <p:cNvSpPr>
            <a:spLocks noGrp="1"/>
          </p:cNvSpPr>
          <p:nvPr>
            <p:ph idx="1"/>
          </p:nvPr>
        </p:nvSpPr>
        <p:spPr/>
        <p:txBody>
          <a:bodyPr>
            <a:normAutofit/>
          </a:bodyPr>
          <a:lstStyle/>
          <a:p>
            <a:r>
              <a:rPr lang="es-AR" sz="2400" dirty="0"/>
              <a:t>Su trabajo es permitir que los hosts inyecten paquetes </a:t>
            </a:r>
            <a:r>
              <a:rPr lang="es-AR" sz="2400" dirty="0" smtClean="0"/>
              <a:t>en cualquier </a:t>
            </a:r>
            <a:r>
              <a:rPr lang="es-AR" sz="2400" dirty="0"/>
              <a:t>red y que viajen de manera independiente hacia el </a:t>
            </a:r>
            <a:r>
              <a:rPr lang="es-AR" sz="2400" dirty="0" smtClean="0"/>
              <a:t>destino. En caso que esté en una red distinta, deberá tener algún mecanismo –en la misma capa- para traducir la entrega/recepción entre redes.</a:t>
            </a:r>
          </a:p>
          <a:p>
            <a:r>
              <a:rPr lang="es-AR" sz="2400" dirty="0" smtClean="0"/>
              <a:t>En caso de necesitar un orden de llegada de paquetes, se requiere de capas de nivel superior para su organización. </a:t>
            </a:r>
            <a:endParaRPr lang="es-AR" sz="2400" dirty="0"/>
          </a:p>
        </p:txBody>
      </p:sp>
    </p:spTree>
    <p:extLst>
      <p:ext uri="{BB962C8B-B14F-4D97-AF65-F5344CB8AC3E}">
        <p14:creationId xmlns:p14="http://schemas.microsoft.com/office/powerpoint/2010/main" val="676465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Capa de Red</a:t>
            </a:r>
            <a:br>
              <a:rPr lang="es-ES" dirty="0" smtClean="0"/>
            </a:br>
            <a:r>
              <a:rPr lang="es-ES" dirty="0" smtClean="0"/>
              <a:t>(Network/Internet </a:t>
            </a:r>
            <a:r>
              <a:rPr lang="es-ES" dirty="0" err="1" smtClean="0"/>
              <a:t>Layer</a:t>
            </a:r>
            <a:r>
              <a:rPr lang="es-ES" dirty="0" smtClean="0"/>
              <a:t>)</a:t>
            </a:r>
            <a:endParaRPr lang="es-AR" dirty="0"/>
          </a:p>
        </p:txBody>
      </p:sp>
      <p:sp>
        <p:nvSpPr>
          <p:cNvPr id="3" name="Marcador de contenido 2"/>
          <p:cNvSpPr>
            <a:spLocks noGrp="1"/>
          </p:cNvSpPr>
          <p:nvPr>
            <p:ph idx="1"/>
          </p:nvPr>
        </p:nvSpPr>
        <p:spPr/>
        <p:txBody>
          <a:bodyPr>
            <a:normAutofit/>
          </a:bodyPr>
          <a:lstStyle/>
          <a:p>
            <a:pPr>
              <a:spcBef>
                <a:spcPct val="50000"/>
              </a:spcBef>
            </a:pPr>
            <a:r>
              <a:rPr lang="es-ES" altLang="es-AR" sz="2400" dirty="0">
                <a:latin typeface="+mj-lt"/>
              </a:rPr>
              <a:t>El propósito de la capa de Internet es seleccionar la mejor ruta para enviar paquetes por la red</a:t>
            </a:r>
            <a:r>
              <a:rPr lang="es-ES" altLang="es-AR" sz="2400" dirty="0" smtClean="0">
                <a:latin typeface="+mj-lt"/>
              </a:rPr>
              <a:t>.</a:t>
            </a:r>
            <a:endParaRPr lang="es-ES" altLang="es-AR" sz="2400" dirty="0">
              <a:latin typeface="+mj-lt"/>
            </a:endParaRPr>
          </a:p>
          <a:p>
            <a:pPr>
              <a:spcBef>
                <a:spcPct val="50000"/>
              </a:spcBef>
            </a:pPr>
            <a:r>
              <a:rPr lang="es-ES" altLang="es-AR" sz="2400" dirty="0">
                <a:latin typeface="+mj-lt"/>
              </a:rPr>
              <a:t>El protocolo principal que funciona en esta capa es el Protocolo de Internet (IP</a:t>
            </a:r>
            <a:r>
              <a:rPr lang="es-ES" altLang="es-AR" sz="2400" dirty="0" smtClean="0">
                <a:latin typeface="+mj-lt"/>
              </a:rPr>
              <a:t>).</a:t>
            </a:r>
            <a:endParaRPr lang="es-ES" altLang="es-AR" sz="2400" dirty="0">
              <a:latin typeface="+mj-lt"/>
            </a:endParaRPr>
          </a:p>
          <a:p>
            <a:pPr>
              <a:spcBef>
                <a:spcPct val="50000"/>
              </a:spcBef>
            </a:pPr>
            <a:r>
              <a:rPr lang="es-ES" altLang="es-AR" sz="2400" dirty="0">
                <a:latin typeface="+mj-lt"/>
              </a:rPr>
              <a:t> La determinación de la mejor ruta y la conmutación de los paquetes ocurre en esta capa. </a:t>
            </a:r>
            <a:endParaRPr lang="es-ES" altLang="es-AR" sz="2400" dirty="0" smtClean="0">
              <a:latin typeface="+mj-lt"/>
            </a:endParaRPr>
          </a:p>
          <a:p>
            <a:pPr>
              <a:spcBef>
                <a:spcPct val="50000"/>
              </a:spcBef>
            </a:pPr>
            <a:r>
              <a:rPr lang="es-ES" altLang="es-AR" sz="2400" b="1" dirty="0" smtClean="0">
                <a:solidFill>
                  <a:srgbClr val="FF0000"/>
                </a:solidFill>
                <a:latin typeface="+mj-lt"/>
              </a:rPr>
              <a:t>REQUIERE MECANISMOS DE CONOCIMIENTO DE LA RED PARA REALIZAR EL ENRUTAMIENTO (</a:t>
            </a:r>
            <a:r>
              <a:rPr lang="es-ES" altLang="es-AR" sz="2400" b="1" dirty="0" err="1" smtClean="0">
                <a:solidFill>
                  <a:srgbClr val="FF0000"/>
                </a:solidFill>
                <a:latin typeface="+mj-lt"/>
              </a:rPr>
              <a:t>routing</a:t>
            </a:r>
            <a:r>
              <a:rPr lang="es-ES" altLang="es-AR" sz="2400" b="1" dirty="0" smtClean="0">
                <a:solidFill>
                  <a:srgbClr val="FF0000"/>
                </a:solidFill>
                <a:latin typeface="+mj-lt"/>
              </a:rPr>
              <a:t>)</a:t>
            </a:r>
            <a:endParaRPr lang="es-ES" altLang="es-AR" sz="2400" b="1" dirty="0">
              <a:solidFill>
                <a:srgbClr val="FF0000"/>
              </a:solidFill>
              <a:latin typeface="+mj-lt"/>
            </a:endParaRPr>
          </a:p>
          <a:p>
            <a:endParaRPr lang="es-AR" sz="2400" dirty="0">
              <a:latin typeface="+mj-lt"/>
            </a:endParaRPr>
          </a:p>
        </p:txBody>
      </p:sp>
    </p:spTree>
    <p:extLst>
      <p:ext uri="{BB962C8B-B14F-4D97-AF65-F5344CB8AC3E}">
        <p14:creationId xmlns:p14="http://schemas.microsoft.com/office/powerpoint/2010/main" val="1284029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Capa de Red</a:t>
            </a:r>
            <a:br>
              <a:rPr lang="es-ES" dirty="0" smtClean="0"/>
            </a:br>
            <a:r>
              <a:rPr lang="es-ES" dirty="0" smtClean="0"/>
              <a:t>(Network/Internet </a:t>
            </a:r>
            <a:r>
              <a:rPr lang="es-ES" dirty="0" err="1" smtClean="0"/>
              <a:t>Layer</a:t>
            </a:r>
            <a:r>
              <a:rPr lang="es-ES" dirty="0" smtClean="0"/>
              <a:t>)</a:t>
            </a:r>
            <a:endParaRPr lang="es-AR" dirty="0"/>
          </a:p>
        </p:txBody>
      </p:sp>
      <p:sp>
        <p:nvSpPr>
          <p:cNvPr id="3" name="Marcador de contenido 2"/>
          <p:cNvSpPr>
            <a:spLocks noGrp="1"/>
          </p:cNvSpPr>
          <p:nvPr>
            <p:ph idx="1"/>
          </p:nvPr>
        </p:nvSpPr>
        <p:spPr/>
        <p:txBody>
          <a:bodyPr>
            <a:normAutofit/>
          </a:bodyPr>
          <a:lstStyle/>
          <a:p>
            <a:pPr marL="0" indent="0">
              <a:buNone/>
            </a:pPr>
            <a:r>
              <a:rPr lang="es-ES" altLang="es-AR" sz="2400" dirty="0" smtClean="0"/>
              <a:t>También necesita de protocolos para conocer a qué direcciones físicas están vinculadas las direcciones IP (es un contacto con la Capa de Enlace)</a:t>
            </a:r>
          </a:p>
          <a:p>
            <a:r>
              <a:rPr lang="es-ES" altLang="es-AR" sz="2400" dirty="0" smtClean="0"/>
              <a:t>El </a:t>
            </a:r>
            <a:r>
              <a:rPr lang="es-ES" altLang="es-AR" sz="2400" dirty="0"/>
              <a:t>Protocolo de resolución de direcciones (ARP) determina la dirección de la capa de enlace de datos, la dirección MAC, para las direcciones IP conocidas. </a:t>
            </a:r>
          </a:p>
          <a:p>
            <a:r>
              <a:rPr lang="es-ES" altLang="es-AR" sz="2400" dirty="0" smtClean="0"/>
              <a:t>El </a:t>
            </a:r>
            <a:r>
              <a:rPr lang="es-ES" altLang="es-AR" sz="2400" dirty="0"/>
              <a:t>Protocolo de resolución inversa de direcciones (RARP) determina las direcciones IP cuando se conoce la dirección MAC.</a:t>
            </a:r>
          </a:p>
          <a:p>
            <a:endParaRPr lang="es-AR" sz="2400" dirty="0">
              <a:latin typeface="+mj-lt"/>
            </a:endParaRPr>
          </a:p>
        </p:txBody>
      </p:sp>
    </p:spTree>
    <p:extLst>
      <p:ext uri="{BB962C8B-B14F-4D97-AF65-F5344CB8AC3E}">
        <p14:creationId xmlns:p14="http://schemas.microsoft.com/office/powerpoint/2010/main" val="4067988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solidFill>
                  <a:schemeClr val="bg1"/>
                </a:solidFill>
              </a:rPr>
              <a:t>Ejemplo de configuración de adaptador de red (NIC)</a:t>
            </a:r>
            <a:endParaRPr lang="es-AR" dirty="0">
              <a:solidFill>
                <a:schemeClr val="bg1"/>
              </a:solidFill>
            </a:endParaRPr>
          </a:p>
        </p:txBody>
      </p:sp>
      <p:pic>
        <p:nvPicPr>
          <p:cNvPr id="4" name="Marcador de contenido 3"/>
          <p:cNvPicPr>
            <a:picLocks noGrp="1" noChangeAspect="1"/>
          </p:cNvPicPr>
          <p:nvPr>
            <p:ph idx="1"/>
          </p:nvPr>
        </p:nvPicPr>
        <p:blipFill>
          <a:blip r:embed="rId2"/>
          <a:stretch>
            <a:fillRect/>
          </a:stretch>
        </p:blipFill>
        <p:spPr>
          <a:xfrm>
            <a:off x="961433" y="2740194"/>
            <a:ext cx="8478433" cy="2124371"/>
          </a:xfrm>
          <a:prstGeom prst="rect">
            <a:avLst/>
          </a:prstGeom>
        </p:spPr>
      </p:pic>
      <p:sp>
        <p:nvSpPr>
          <p:cNvPr id="5" name="Rectángulo 4"/>
          <p:cNvSpPr/>
          <p:nvPr/>
        </p:nvSpPr>
        <p:spPr>
          <a:xfrm>
            <a:off x="7132320" y="3600449"/>
            <a:ext cx="1840230" cy="4118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Llamada con línea 1 15"/>
          <p:cNvSpPr/>
          <p:nvPr/>
        </p:nvSpPr>
        <p:spPr>
          <a:xfrm>
            <a:off x="8972550" y="1587267"/>
            <a:ext cx="2920365" cy="1737360"/>
          </a:xfrm>
          <a:prstGeom prst="borderCallout1">
            <a:avLst>
              <a:gd name="adj1" fmla="val 36871"/>
              <a:gd name="adj2" fmla="val 278"/>
              <a:gd name="adj3" fmla="val 116447"/>
              <a:gd name="adj4" fmla="val -3167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 Dirección IP del equipo (host).</a:t>
            </a:r>
          </a:p>
          <a:p>
            <a:pPr algn="ctr"/>
            <a:r>
              <a:rPr lang="es-ES" dirty="0" smtClean="0"/>
              <a:t>4 octetos (4 conjuntos de 8 bits) y expresada en decimal por razones de legibilidad humana</a:t>
            </a:r>
            <a:endParaRPr lang="es-AR" dirty="0"/>
          </a:p>
        </p:txBody>
      </p:sp>
    </p:spTree>
    <p:extLst>
      <p:ext uri="{BB962C8B-B14F-4D97-AF65-F5344CB8AC3E}">
        <p14:creationId xmlns:p14="http://schemas.microsoft.com/office/powerpoint/2010/main" val="1415373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solidFill>
                  <a:schemeClr val="bg1"/>
                </a:solidFill>
              </a:rPr>
              <a:t>Ejemplo de configuración de adaptador de red (NIC)</a:t>
            </a:r>
            <a:endParaRPr lang="es-AR" dirty="0">
              <a:solidFill>
                <a:schemeClr val="bg1"/>
              </a:solidFill>
            </a:endParaRPr>
          </a:p>
        </p:txBody>
      </p:sp>
      <p:pic>
        <p:nvPicPr>
          <p:cNvPr id="4" name="Marcador de contenido 3"/>
          <p:cNvPicPr>
            <a:picLocks noGrp="1" noChangeAspect="1"/>
          </p:cNvPicPr>
          <p:nvPr>
            <p:ph idx="1"/>
          </p:nvPr>
        </p:nvPicPr>
        <p:blipFill>
          <a:blip r:embed="rId2"/>
          <a:stretch>
            <a:fillRect/>
          </a:stretch>
        </p:blipFill>
        <p:spPr>
          <a:xfrm>
            <a:off x="961433" y="2740194"/>
            <a:ext cx="8478433" cy="2124371"/>
          </a:xfrm>
          <a:prstGeom prst="rect">
            <a:avLst/>
          </a:prstGeom>
        </p:spPr>
      </p:pic>
      <p:sp>
        <p:nvSpPr>
          <p:cNvPr id="5" name="Rectángulo 4"/>
          <p:cNvSpPr/>
          <p:nvPr/>
        </p:nvSpPr>
        <p:spPr>
          <a:xfrm>
            <a:off x="7132320" y="3931919"/>
            <a:ext cx="1931670" cy="36576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Llamada con línea 1 15"/>
          <p:cNvSpPr/>
          <p:nvPr/>
        </p:nvSpPr>
        <p:spPr>
          <a:xfrm>
            <a:off x="8972550" y="1626065"/>
            <a:ext cx="2920365" cy="2021607"/>
          </a:xfrm>
          <a:prstGeom prst="borderCallout1">
            <a:avLst>
              <a:gd name="adj1" fmla="val 36871"/>
              <a:gd name="adj2" fmla="val 278"/>
              <a:gd name="adj3" fmla="val 115316"/>
              <a:gd name="adj4" fmla="val -2619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 Máscara de subred: separa la dirección IP en una componente para identificar la red en la que está el equipo del identificador individual del HOST dentro de esa red</a:t>
            </a:r>
            <a:endParaRPr lang="es-AR" dirty="0"/>
          </a:p>
        </p:txBody>
      </p:sp>
    </p:spTree>
    <p:extLst>
      <p:ext uri="{BB962C8B-B14F-4D97-AF65-F5344CB8AC3E}">
        <p14:creationId xmlns:p14="http://schemas.microsoft.com/office/powerpoint/2010/main" val="3154600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solidFill>
                  <a:schemeClr val="bg1"/>
                </a:solidFill>
              </a:rPr>
              <a:t>Ejemplo de configuración de adaptador de red (NIC)</a:t>
            </a:r>
            <a:endParaRPr lang="es-AR" dirty="0">
              <a:solidFill>
                <a:schemeClr val="bg1"/>
              </a:solidFill>
            </a:endParaRPr>
          </a:p>
        </p:txBody>
      </p:sp>
      <p:pic>
        <p:nvPicPr>
          <p:cNvPr id="4" name="Marcador de contenido 3"/>
          <p:cNvPicPr>
            <a:picLocks noGrp="1" noChangeAspect="1"/>
          </p:cNvPicPr>
          <p:nvPr>
            <p:ph idx="1"/>
          </p:nvPr>
        </p:nvPicPr>
        <p:blipFill>
          <a:blip r:embed="rId2"/>
          <a:stretch>
            <a:fillRect/>
          </a:stretch>
        </p:blipFill>
        <p:spPr>
          <a:xfrm>
            <a:off x="961433" y="2740194"/>
            <a:ext cx="8478433" cy="2124371"/>
          </a:xfrm>
          <a:prstGeom prst="rect">
            <a:avLst/>
          </a:prstGeom>
        </p:spPr>
      </p:pic>
      <p:sp>
        <p:nvSpPr>
          <p:cNvPr id="5" name="Rectángulo 4"/>
          <p:cNvSpPr/>
          <p:nvPr/>
        </p:nvSpPr>
        <p:spPr>
          <a:xfrm>
            <a:off x="7132320" y="4240529"/>
            <a:ext cx="1668780" cy="36576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Llamada con línea 1 15"/>
          <p:cNvSpPr/>
          <p:nvPr/>
        </p:nvSpPr>
        <p:spPr>
          <a:xfrm>
            <a:off x="8972550" y="1626065"/>
            <a:ext cx="2920365" cy="2865925"/>
          </a:xfrm>
          <a:prstGeom prst="borderCallout1">
            <a:avLst>
              <a:gd name="adj1" fmla="val 36871"/>
              <a:gd name="adj2" fmla="val 278"/>
              <a:gd name="adj3" fmla="val 92128"/>
              <a:gd name="adj4" fmla="val -3324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Puerta de enlace (Gateway): es la dirección IP del equipo que permite la comunicación con otras redes (por lo general un </a:t>
            </a:r>
            <a:r>
              <a:rPr lang="es-ES" dirty="0" err="1" smtClean="0"/>
              <a:t>router</a:t>
            </a:r>
            <a:r>
              <a:rPr lang="es-ES" dirty="0" smtClean="0"/>
              <a:t>).</a:t>
            </a:r>
          </a:p>
          <a:p>
            <a:pPr algn="ctr"/>
            <a:r>
              <a:rPr lang="es-ES" dirty="0" smtClean="0"/>
              <a:t>En general, se puede conectar a internet gracias al </a:t>
            </a:r>
            <a:r>
              <a:rPr lang="es-ES" dirty="0" err="1" smtClean="0"/>
              <a:t>router</a:t>
            </a:r>
            <a:r>
              <a:rPr lang="es-ES" dirty="0" smtClean="0"/>
              <a:t> que se define como puerta de enlace.</a:t>
            </a:r>
            <a:endParaRPr lang="es-AR" dirty="0"/>
          </a:p>
        </p:txBody>
      </p:sp>
    </p:spTree>
    <p:extLst>
      <p:ext uri="{BB962C8B-B14F-4D97-AF65-F5344CB8AC3E}">
        <p14:creationId xmlns:p14="http://schemas.microsoft.com/office/powerpoint/2010/main" val="1664205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371600" y="685800"/>
            <a:ext cx="9601200" cy="1097280"/>
          </a:xfrm>
        </p:spPr>
        <p:txBody>
          <a:bodyPr/>
          <a:lstStyle/>
          <a:p>
            <a:r>
              <a:rPr lang="es-ES" dirty="0" smtClean="0">
                <a:solidFill>
                  <a:schemeClr val="bg1"/>
                </a:solidFill>
              </a:rPr>
              <a:t>¿Cómo se </a:t>
            </a:r>
            <a:r>
              <a:rPr lang="es-ES" dirty="0" err="1" smtClean="0">
                <a:solidFill>
                  <a:schemeClr val="bg1"/>
                </a:solidFill>
              </a:rPr>
              <a:t>lée</a:t>
            </a:r>
            <a:r>
              <a:rPr lang="es-ES" dirty="0" smtClean="0">
                <a:solidFill>
                  <a:schemeClr val="bg1"/>
                </a:solidFill>
              </a:rPr>
              <a:t> una dirección IP?</a:t>
            </a:r>
          </a:p>
        </p:txBody>
      </p:sp>
      <p:sp>
        <p:nvSpPr>
          <p:cNvPr id="3" name="Marcador de contenido 2"/>
          <p:cNvSpPr>
            <a:spLocks noGrp="1"/>
          </p:cNvSpPr>
          <p:nvPr>
            <p:ph idx="1"/>
          </p:nvPr>
        </p:nvSpPr>
        <p:spPr/>
        <p:txBody>
          <a:bodyPr/>
          <a:lstStyle/>
          <a:p>
            <a:pPr marL="0" indent="0">
              <a:buNone/>
            </a:pPr>
            <a:r>
              <a:rPr lang="es-ES" dirty="0" smtClean="0">
                <a:solidFill>
                  <a:srgbClr val="FFC000"/>
                </a:solidFill>
              </a:rPr>
              <a:t>En el ejemplo teníamos la dirección 192.168.1.32 con máscara 255.255.255.0</a:t>
            </a:r>
          </a:p>
          <a:p>
            <a:pPr marL="0" indent="0">
              <a:buNone/>
            </a:pPr>
            <a:r>
              <a:rPr lang="es-ES" dirty="0" smtClean="0">
                <a:solidFill>
                  <a:srgbClr val="FFC000"/>
                </a:solidFill>
              </a:rPr>
              <a:t>Si traducimos ambas a binario seria</a:t>
            </a:r>
          </a:p>
          <a:p>
            <a:pPr marL="0" indent="0">
              <a:buNone/>
            </a:pPr>
            <a:r>
              <a:rPr lang="es-ES" dirty="0" smtClean="0">
                <a:solidFill>
                  <a:srgbClr val="FFC000"/>
                </a:solidFill>
              </a:rPr>
              <a:t>IP</a:t>
            </a:r>
            <a:r>
              <a:rPr lang="es-ES" dirty="0">
                <a:solidFill>
                  <a:srgbClr val="FFC000"/>
                </a:solidFill>
              </a:rPr>
              <a:t>: </a:t>
            </a:r>
            <a:r>
              <a:rPr lang="es-ES" dirty="0" smtClean="0">
                <a:solidFill>
                  <a:srgbClr val="FFC000"/>
                </a:solidFill>
              </a:rPr>
              <a:t>		1100 </a:t>
            </a:r>
            <a:r>
              <a:rPr lang="es-ES" dirty="0">
                <a:solidFill>
                  <a:srgbClr val="FFC000"/>
                </a:solidFill>
              </a:rPr>
              <a:t>0000 . 1010 1000 . 0000 0001 . 0010 </a:t>
            </a:r>
            <a:r>
              <a:rPr lang="es-ES" dirty="0" smtClean="0">
                <a:solidFill>
                  <a:srgbClr val="FFC000"/>
                </a:solidFill>
              </a:rPr>
              <a:t>0000</a:t>
            </a:r>
          </a:p>
          <a:p>
            <a:pPr marL="0" indent="0">
              <a:buNone/>
            </a:pPr>
            <a:r>
              <a:rPr lang="es-ES" dirty="0" smtClean="0">
                <a:solidFill>
                  <a:srgbClr val="FFC000"/>
                </a:solidFill>
              </a:rPr>
              <a:t>Máscara:	1111 1111 . 1111 1111 . 1111 1111 . 0000 0000</a:t>
            </a:r>
            <a:endParaRPr lang="es-AR" dirty="0">
              <a:solidFill>
                <a:srgbClr val="FFC000"/>
              </a:solidFill>
            </a:endParaRPr>
          </a:p>
        </p:txBody>
      </p:sp>
    </p:spTree>
    <p:extLst>
      <p:ext uri="{BB962C8B-B14F-4D97-AF65-F5344CB8AC3E}">
        <p14:creationId xmlns:p14="http://schemas.microsoft.com/office/powerpoint/2010/main" val="574956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371600" y="2286000"/>
            <a:ext cx="9601200" cy="4286250"/>
          </a:xfrm>
        </p:spPr>
        <p:txBody>
          <a:bodyPr>
            <a:normAutofit/>
          </a:bodyPr>
          <a:lstStyle/>
          <a:p>
            <a:pPr marL="0" indent="0">
              <a:buNone/>
            </a:pPr>
            <a:r>
              <a:rPr lang="es-ES" dirty="0" smtClean="0">
                <a:solidFill>
                  <a:srgbClr val="FFC000"/>
                </a:solidFill>
              </a:rPr>
              <a:t>En el ejemplo teníamos la dirección 192.168.1.32 con máscara 255.255.255.0</a:t>
            </a:r>
          </a:p>
          <a:p>
            <a:pPr marL="0" indent="0">
              <a:buNone/>
            </a:pPr>
            <a:r>
              <a:rPr lang="es-ES" dirty="0" smtClean="0">
                <a:solidFill>
                  <a:srgbClr val="FFC000"/>
                </a:solidFill>
              </a:rPr>
              <a:t>Si traducimos ambas a binario seria</a:t>
            </a:r>
          </a:p>
          <a:p>
            <a:pPr marL="0" indent="0">
              <a:buNone/>
            </a:pPr>
            <a:r>
              <a:rPr lang="es-ES" dirty="0" smtClean="0">
                <a:solidFill>
                  <a:srgbClr val="FFC000"/>
                </a:solidFill>
              </a:rPr>
              <a:t>IP</a:t>
            </a:r>
            <a:r>
              <a:rPr lang="es-ES" dirty="0">
                <a:solidFill>
                  <a:srgbClr val="FFC000"/>
                </a:solidFill>
              </a:rPr>
              <a:t>: </a:t>
            </a:r>
            <a:r>
              <a:rPr lang="es-ES" dirty="0" smtClean="0">
                <a:solidFill>
                  <a:srgbClr val="FFC000"/>
                </a:solidFill>
              </a:rPr>
              <a:t>		1100 </a:t>
            </a:r>
            <a:r>
              <a:rPr lang="es-ES" dirty="0">
                <a:solidFill>
                  <a:srgbClr val="FFC000"/>
                </a:solidFill>
              </a:rPr>
              <a:t>0000 . 1010 1000 . 0000 0001 . 0010 </a:t>
            </a:r>
            <a:r>
              <a:rPr lang="es-ES" dirty="0" smtClean="0">
                <a:solidFill>
                  <a:srgbClr val="FFC000"/>
                </a:solidFill>
              </a:rPr>
              <a:t>0000</a:t>
            </a:r>
          </a:p>
          <a:p>
            <a:pPr marL="0" indent="0">
              <a:buNone/>
            </a:pPr>
            <a:r>
              <a:rPr lang="es-ES" dirty="0" smtClean="0">
                <a:solidFill>
                  <a:srgbClr val="FFC000"/>
                </a:solidFill>
              </a:rPr>
              <a:t>Máscara:	1111 1111 . 1111 1111 . 1111 1111 . 0000 0000</a:t>
            </a:r>
          </a:p>
          <a:p>
            <a:pPr marL="0" indent="0">
              <a:buNone/>
            </a:pPr>
            <a:endParaRPr lang="es-ES" dirty="0">
              <a:solidFill>
                <a:srgbClr val="FFC000"/>
              </a:solidFill>
            </a:endParaRPr>
          </a:p>
          <a:p>
            <a:pPr marL="0" indent="0">
              <a:buNone/>
            </a:pPr>
            <a:r>
              <a:rPr lang="es-ES" dirty="0" smtClean="0">
                <a:solidFill>
                  <a:srgbClr val="FFC000"/>
                </a:solidFill>
              </a:rPr>
              <a:t>La máscara me separa qué parte de la dirección IP es para identificar a la RED en que esta inserta el dispositivo y qué parte es para el host.</a:t>
            </a:r>
          </a:p>
          <a:p>
            <a:pPr marL="0" indent="0">
              <a:buNone/>
            </a:pPr>
            <a:r>
              <a:rPr lang="es-ES" dirty="0" smtClean="0">
                <a:solidFill>
                  <a:srgbClr val="FFC000"/>
                </a:solidFill>
              </a:rPr>
              <a:t>La primer cadena de UNOS (que recuadramos con rojo) indica que los octetos de nivel superior, que están sobre la misma posición homóloga, identifican a la red. Traduciendo nuevamente a decimal, la red es </a:t>
            </a:r>
            <a:r>
              <a:rPr lang="es-ES" dirty="0" smtClean="0">
                <a:solidFill>
                  <a:srgbClr val="FF0000"/>
                </a:solidFill>
              </a:rPr>
              <a:t>192.168.1.0</a:t>
            </a:r>
            <a:endParaRPr lang="es-AR" dirty="0">
              <a:solidFill>
                <a:srgbClr val="FF0000"/>
              </a:solidFill>
            </a:endParaRPr>
          </a:p>
        </p:txBody>
      </p:sp>
      <p:sp>
        <p:nvSpPr>
          <p:cNvPr id="2" name="Título 1"/>
          <p:cNvSpPr>
            <a:spLocks noGrp="1"/>
          </p:cNvSpPr>
          <p:nvPr>
            <p:ph type="title"/>
          </p:nvPr>
        </p:nvSpPr>
        <p:spPr>
          <a:xfrm>
            <a:off x="1371600" y="685800"/>
            <a:ext cx="9601200" cy="1097280"/>
          </a:xfrm>
        </p:spPr>
        <p:txBody>
          <a:bodyPr/>
          <a:lstStyle/>
          <a:p>
            <a:r>
              <a:rPr lang="es-ES" dirty="0" smtClean="0">
                <a:solidFill>
                  <a:schemeClr val="bg1"/>
                </a:solidFill>
              </a:rPr>
              <a:t>¿Cómo se </a:t>
            </a:r>
            <a:r>
              <a:rPr lang="es-ES" dirty="0" err="1" smtClean="0">
                <a:solidFill>
                  <a:schemeClr val="bg1"/>
                </a:solidFill>
              </a:rPr>
              <a:t>lée</a:t>
            </a:r>
            <a:r>
              <a:rPr lang="es-ES" dirty="0" smtClean="0">
                <a:solidFill>
                  <a:schemeClr val="bg1"/>
                </a:solidFill>
              </a:rPr>
              <a:t> una dirección IP?</a:t>
            </a:r>
          </a:p>
        </p:txBody>
      </p:sp>
      <p:sp>
        <p:nvSpPr>
          <p:cNvPr id="5" name="Rectángulo 4"/>
          <p:cNvSpPr/>
          <p:nvPr/>
        </p:nvSpPr>
        <p:spPr>
          <a:xfrm>
            <a:off x="3223260" y="3566160"/>
            <a:ext cx="4206240" cy="4876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58137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marL="0" indent="0">
              <a:buNone/>
            </a:pPr>
            <a:r>
              <a:rPr lang="es-ES" dirty="0" smtClean="0">
                <a:solidFill>
                  <a:srgbClr val="FFC000"/>
                </a:solidFill>
              </a:rPr>
              <a:t>En el ejemplo teníamos la dirección 192.168.1.32 con máscara 255.255.255.0</a:t>
            </a:r>
          </a:p>
          <a:p>
            <a:pPr marL="0" indent="0">
              <a:buNone/>
            </a:pPr>
            <a:r>
              <a:rPr lang="es-ES" dirty="0" smtClean="0">
                <a:solidFill>
                  <a:srgbClr val="FFC000"/>
                </a:solidFill>
              </a:rPr>
              <a:t>Si traducimos ambas a binario seria</a:t>
            </a:r>
          </a:p>
          <a:p>
            <a:pPr marL="0" indent="0">
              <a:buNone/>
            </a:pPr>
            <a:r>
              <a:rPr lang="es-ES" dirty="0" smtClean="0">
                <a:solidFill>
                  <a:srgbClr val="FFC000"/>
                </a:solidFill>
              </a:rPr>
              <a:t>IP</a:t>
            </a:r>
            <a:r>
              <a:rPr lang="es-ES" dirty="0">
                <a:solidFill>
                  <a:srgbClr val="FFC000"/>
                </a:solidFill>
              </a:rPr>
              <a:t>: </a:t>
            </a:r>
            <a:r>
              <a:rPr lang="es-ES" dirty="0" smtClean="0">
                <a:solidFill>
                  <a:srgbClr val="FFC000"/>
                </a:solidFill>
              </a:rPr>
              <a:t>		1100 </a:t>
            </a:r>
            <a:r>
              <a:rPr lang="es-ES" dirty="0">
                <a:solidFill>
                  <a:srgbClr val="FFC000"/>
                </a:solidFill>
              </a:rPr>
              <a:t>0000 . 1010 1000 . 0000 0001 . 0010 </a:t>
            </a:r>
            <a:r>
              <a:rPr lang="es-ES" dirty="0" smtClean="0">
                <a:solidFill>
                  <a:srgbClr val="FFC000"/>
                </a:solidFill>
              </a:rPr>
              <a:t>0000</a:t>
            </a:r>
          </a:p>
          <a:p>
            <a:pPr marL="0" indent="0">
              <a:buNone/>
            </a:pPr>
            <a:r>
              <a:rPr lang="es-ES" dirty="0" smtClean="0">
                <a:solidFill>
                  <a:srgbClr val="FFC000"/>
                </a:solidFill>
              </a:rPr>
              <a:t>Máscara:	1111 1111 . 1111 1111 . 1111 1111 . 0000 0000</a:t>
            </a:r>
          </a:p>
          <a:p>
            <a:pPr marL="0" indent="0">
              <a:buNone/>
            </a:pPr>
            <a:endParaRPr lang="es-ES" dirty="0">
              <a:solidFill>
                <a:srgbClr val="FFC000"/>
              </a:solidFill>
            </a:endParaRPr>
          </a:p>
          <a:p>
            <a:pPr marL="0" indent="0">
              <a:buNone/>
            </a:pPr>
            <a:r>
              <a:rPr lang="es-ES" dirty="0" smtClean="0">
                <a:solidFill>
                  <a:srgbClr val="FFC000"/>
                </a:solidFill>
              </a:rPr>
              <a:t>Los bits restantes de la máscara son ceros, los bits de la IP homólogos a estas posiciones, representan al identificador de HOST sobre esta dirección IP, al equipo en cuestión. Es el número 32 para este ejemplo.</a:t>
            </a:r>
          </a:p>
          <a:p>
            <a:pPr marL="0" indent="0">
              <a:buNone/>
            </a:pPr>
            <a:endParaRPr lang="es-AR" dirty="0">
              <a:solidFill>
                <a:srgbClr val="FF0000"/>
              </a:solidFill>
            </a:endParaRPr>
          </a:p>
        </p:txBody>
      </p:sp>
      <p:sp>
        <p:nvSpPr>
          <p:cNvPr id="2" name="Título 1"/>
          <p:cNvSpPr>
            <a:spLocks noGrp="1"/>
          </p:cNvSpPr>
          <p:nvPr>
            <p:ph type="title"/>
          </p:nvPr>
        </p:nvSpPr>
        <p:spPr>
          <a:xfrm>
            <a:off x="1371600" y="685800"/>
            <a:ext cx="9601200" cy="1097280"/>
          </a:xfrm>
        </p:spPr>
        <p:txBody>
          <a:bodyPr/>
          <a:lstStyle/>
          <a:p>
            <a:r>
              <a:rPr lang="es-ES" dirty="0" smtClean="0">
                <a:solidFill>
                  <a:schemeClr val="bg1"/>
                </a:solidFill>
              </a:rPr>
              <a:t>¿Cómo se </a:t>
            </a:r>
            <a:r>
              <a:rPr lang="es-ES" dirty="0" err="1" smtClean="0">
                <a:solidFill>
                  <a:schemeClr val="bg1"/>
                </a:solidFill>
              </a:rPr>
              <a:t>lée</a:t>
            </a:r>
            <a:r>
              <a:rPr lang="es-ES" dirty="0" smtClean="0">
                <a:solidFill>
                  <a:schemeClr val="bg1"/>
                </a:solidFill>
              </a:rPr>
              <a:t> una dirección IP?</a:t>
            </a:r>
          </a:p>
        </p:txBody>
      </p:sp>
      <p:sp>
        <p:nvSpPr>
          <p:cNvPr id="5" name="Rectángulo 4"/>
          <p:cNvSpPr/>
          <p:nvPr/>
        </p:nvSpPr>
        <p:spPr>
          <a:xfrm flipH="1">
            <a:off x="7463790" y="3566160"/>
            <a:ext cx="1428750" cy="4876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823595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marL="0" indent="0">
              <a:buNone/>
            </a:pPr>
            <a:r>
              <a:rPr lang="es-ES" sz="3600" dirty="0" smtClean="0">
                <a:solidFill>
                  <a:srgbClr val="FFC000"/>
                </a:solidFill>
              </a:rPr>
              <a:t>En síntesis, para este ejemplo:</a:t>
            </a:r>
          </a:p>
          <a:p>
            <a:pPr marL="0" indent="0">
              <a:buNone/>
            </a:pPr>
            <a:endParaRPr lang="es-ES" sz="3600" dirty="0">
              <a:solidFill>
                <a:srgbClr val="FFC000"/>
              </a:solidFill>
            </a:endParaRPr>
          </a:p>
          <a:p>
            <a:pPr marL="0" indent="0" algn="ctr">
              <a:buNone/>
            </a:pPr>
            <a:r>
              <a:rPr lang="es-ES" sz="3600" dirty="0" smtClean="0">
                <a:solidFill>
                  <a:srgbClr val="FFC000"/>
                </a:solidFill>
              </a:rPr>
              <a:t>192.168.1.32</a:t>
            </a:r>
          </a:p>
          <a:p>
            <a:pPr marL="0" indent="0">
              <a:buNone/>
            </a:pPr>
            <a:endParaRPr lang="es-AR" dirty="0">
              <a:solidFill>
                <a:srgbClr val="FF0000"/>
              </a:solidFill>
            </a:endParaRPr>
          </a:p>
        </p:txBody>
      </p:sp>
      <p:sp>
        <p:nvSpPr>
          <p:cNvPr id="2" name="Título 1"/>
          <p:cNvSpPr>
            <a:spLocks noGrp="1"/>
          </p:cNvSpPr>
          <p:nvPr>
            <p:ph type="title"/>
          </p:nvPr>
        </p:nvSpPr>
        <p:spPr>
          <a:xfrm>
            <a:off x="1371600" y="685800"/>
            <a:ext cx="9601200" cy="1097280"/>
          </a:xfrm>
        </p:spPr>
        <p:txBody>
          <a:bodyPr/>
          <a:lstStyle/>
          <a:p>
            <a:r>
              <a:rPr lang="es-ES" dirty="0" smtClean="0">
                <a:solidFill>
                  <a:schemeClr val="bg1"/>
                </a:solidFill>
              </a:rPr>
              <a:t>¿Cómo se </a:t>
            </a:r>
            <a:r>
              <a:rPr lang="es-ES" dirty="0" err="1" smtClean="0">
                <a:solidFill>
                  <a:schemeClr val="bg1"/>
                </a:solidFill>
              </a:rPr>
              <a:t>lée</a:t>
            </a:r>
            <a:r>
              <a:rPr lang="es-ES" dirty="0" smtClean="0">
                <a:solidFill>
                  <a:schemeClr val="bg1"/>
                </a:solidFill>
              </a:rPr>
              <a:t> una dirección IP?</a:t>
            </a:r>
          </a:p>
        </p:txBody>
      </p:sp>
      <p:sp>
        <p:nvSpPr>
          <p:cNvPr id="5" name="Rectángulo 4"/>
          <p:cNvSpPr/>
          <p:nvPr/>
        </p:nvSpPr>
        <p:spPr>
          <a:xfrm flipH="1">
            <a:off x="4652010" y="3691890"/>
            <a:ext cx="2217420" cy="4876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Rectángulo 5"/>
          <p:cNvSpPr/>
          <p:nvPr/>
        </p:nvSpPr>
        <p:spPr>
          <a:xfrm flipH="1">
            <a:off x="6953250" y="3691889"/>
            <a:ext cx="670560" cy="487679"/>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7" name="Conector recto 6"/>
          <p:cNvCxnSpPr>
            <a:stCxn id="5" idx="2"/>
          </p:cNvCxnSpPr>
          <p:nvPr/>
        </p:nvCxnSpPr>
        <p:spPr>
          <a:xfrm flipH="1">
            <a:off x="4126230" y="4179569"/>
            <a:ext cx="1634490" cy="102108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a:stCxn id="6" idx="2"/>
          </p:cNvCxnSpPr>
          <p:nvPr/>
        </p:nvCxnSpPr>
        <p:spPr>
          <a:xfrm>
            <a:off x="7288530" y="4179568"/>
            <a:ext cx="1512570" cy="102108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CuadroTexto 11"/>
          <p:cNvSpPr txBox="1"/>
          <p:nvPr/>
        </p:nvSpPr>
        <p:spPr>
          <a:xfrm>
            <a:off x="3514725" y="5138946"/>
            <a:ext cx="1428750" cy="707886"/>
          </a:xfrm>
          <a:prstGeom prst="rect">
            <a:avLst/>
          </a:prstGeom>
          <a:noFill/>
        </p:spPr>
        <p:txBody>
          <a:bodyPr wrap="square" rtlCol="0">
            <a:spAutoFit/>
          </a:bodyPr>
          <a:lstStyle/>
          <a:p>
            <a:r>
              <a:rPr lang="es-ES" sz="4000" b="1" dirty="0" smtClean="0">
                <a:solidFill>
                  <a:srgbClr val="FF0000"/>
                </a:solidFill>
              </a:rPr>
              <a:t>RED</a:t>
            </a:r>
            <a:endParaRPr lang="es-AR" sz="4000" b="1" dirty="0">
              <a:solidFill>
                <a:srgbClr val="FF0000"/>
              </a:solidFill>
            </a:endParaRPr>
          </a:p>
        </p:txBody>
      </p:sp>
      <p:sp>
        <p:nvSpPr>
          <p:cNvPr id="13" name="CuadroTexto 12"/>
          <p:cNvSpPr txBox="1"/>
          <p:nvPr/>
        </p:nvSpPr>
        <p:spPr>
          <a:xfrm>
            <a:off x="8183880" y="5141238"/>
            <a:ext cx="2072640" cy="707886"/>
          </a:xfrm>
          <a:prstGeom prst="rect">
            <a:avLst/>
          </a:prstGeom>
          <a:noFill/>
        </p:spPr>
        <p:txBody>
          <a:bodyPr wrap="square" rtlCol="0">
            <a:spAutoFit/>
          </a:bodyPr>
          <a:lstStyle/>
          <a:p>
            <a:r>
              <a:rPr lang="es-ES" sz="4000" b="1" dirty="0" smtClean="0">
                <a:solidFill>
                  <a:srgbClr val="00B0F0"/>
                </a:solidFill>
              </a:rPr>
              <a:t>HOST</a:t>
            </a:r>
            <a:endParaRPr lang="es-AR" sz="4000" b="1" dirty="0">
              <a:solidFill>
                <a:srgbClr val="00B0F0"/>
              </a:solidFill>
            </a:endParaRPr>
          </a:p>
        </p:txBody>
      </p:sp>
    </p:spTree>
    <p:extLst>
      <p:ext uri="{BB962C8B-B14F-4D97-AF65-F5344CB8AC3E}">
        <p14:creationId xmlns:p14="http://schemas.microsoft.com/office/powerpoint/2010/main" val="3611152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normAutofit fontScale="92500" lnSpcReduction="10000"/>
          </a:bodyPr>
          <a:lstStyle/>
          <a:p>
            <a:pPr marL="0" indent="0">
              <a:buNone/>
            </a:pPr>
            <a:r>
              <a:rPr lang="es-ES" sz="3600" dirty="0" smtClean="0">
                <a:solidFill>
                  <a:srgbClr val="FFC000"/>
                </a:solidFill>
              </a:rPr>
              <a:t>Para que un equipo entonces esté dentro de la misma RED, debe tener un número de IP igual a la parte correspondiente a la </a:t>
            </a:r>
            <a:r>
              <a:rPr lang="es-ES" sz="3600" dirty="0" smtClean="0">
                <a:solidFill>
                  <a:srgbClr val="FF0000"/>
                </a:solidFill>
              </a:rPr>
              <a:t>red</a:t>
            </a:r>
            <a:r>
              <a:rPr lang="es-ES" sz="3600" dirty="0" smtClean="0">
                <a:solidFill>
                  <a:srgbClr val="FFC000"/>
                </a:solidFill>
              </a:rPr>
              <a:t> y el número de </a:t>
            </a:r>
            <a:r>
              <a:rPr lang="es-ES" sz="3600" dirty="0" smtClean="0">
                <a:solidFill>
                  <a:srgbClr val="00B0F0"/>
                </a:solidFill>
              </a:rPr>
              <a:t>host</a:t>
            </a:r>
            <a:r>
              <a:rPr lang="es-ES" sz="3600" dirty="0" smtClean="0">
                <a:solidFill>
                  <a:srgbClr val="FFC000"/>
                </a:solidFill>
              </a:rPr>
              <a:t> (último número correspondiente a la red), debe de ser único dentro de esa red.</a:t>
            </a:r>
          </a:p>
          <a:p>
            <a:pPr marL="0" indent="0">
              <a:buNone/>
            </a:pPr>
            <a:endParaRPr lang="es-ES" sz="3600" dirty="0">
              <a:solidFill>
                <a:srgbClr val="FFC000"/>
              </a:solidFill>
            </a:endParaRPr>
          </a:p>
          <a:p>
            <a:pPr marL="0" indent="0" algn="ctr">
              <a:buNone/>
            </a:pPr>
            <a:r>
              <a:rPr lang="es-ES" sz="3600" dirty="0" smtClean="0">
                <a:solidFill>
                  <a:srgbClr val="FFC000"/>
                </a:solidFill>
              </a:rPr>
              <a:t>192.168.1.32</a:t>
            </a:r>
          </a:p>
          <a:p>
            <a:pPr marL="0" indent="0">
              <a:buNone/>
            </a:pPr>
            <a:endParaRPr lang="es-AR" dirty="0">
              <a:solidFill>
                <a:srgbClr val="FF0000"/>
              </a:solidFill>
            </a:endParaRPr>
          </a:p>
        </p:txBody>
      </p:sp>
      <p:sp>
        <p:nvSpPr>
          <p:cNvPr id="2" name="Título 1"/>
          <p:cNvSpPr>
            <a:spLocks noGrp="1"/>
          </p:cNvSpPr>
          <p:nvPr>
            <p:ph type="title"/>
          </p:nvPr>
        </p:nvSpPr>
        <p:spPr>
          <a:xfrm>
            <a:off x="1371600" y="685800"/>
            <a:ext cx="9601200" cy="1097280"/>
          </a:xfrm>
        </p:spPr>
        <p:txBody>
          <a:bodyPr/>
          <a:lstStyle/>
          <a:p>
            <a:r>
              <a:rPr lang="es-ES" dirty="0" smtClean="0">
                <a:solidFill>
                  <a:schemeClr val="bg1"/>
                </a:solidFill>
              </a:rPr>
              <a:t>¿Cómo se asigna una IP a una red?</a:t>
            </a:r>
          </a:p>
        </p:txBody>
      </p:sp>
      <p:sp>
        <p:nvSpPr>
          <p:cNvPr id="5" name="Rectángulo 4"/>
          <p:cNvSpPr/>
          <p:nvPr/>
        </p:nvSpPr>
        <p:spPr>
          <a:xfrm flipH="1">
            <a:off x="4903470" y="5097778"/>
            <a:ext cx="1937597" cy="4876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Rectángulo 5"/>
          <p:cNvSpPr/>
          <p:nvPr/>
        </p:nvSpPr>
        <p:spPr>
          <a:xfrm flipH="1">
            <a:off x="6863927" y="5097777"/>
            <a:ext cx="603673" cy="487679"/>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662833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normAutofit lnSpcReduction="10000"/>
          </a:bodyPr>
          <a:lstStyle/>
          <a:p>
            <a:pPr marL="0" indent="0">
              <a:buNone/>
            </a:pPr>
            <a:r>
              <a:rPr lang="es-ES" sz="3600" dirty="0" smtClean="0">
                <a:solidFill>
                  <a:srgbClr val="FFC000"/>
                </a:solidFill>
              </a:rPr>
              <a:t>Recordar que esto si la máscara es 255.255.255.0. Si la máscara es 255.255.0.0 (16 bits superiores), entonces se pueden definir redes como 192.168.0.0, donde los dos últimos octetos de la derecha se usan para el número de host (tengo mas bits para definir la cantidad de hosts).</a:t>
            </a:r>
          </a:p>
          <a:p>
            <a:pPr marL="0" indent="0">
              <a:buNone/>
            </a:pPr>
            <a:endParaRPr lang="es-ES" sz="3600" dirty="0">
              <a:solidFill>
                <a:srgbClr val="FFC000"/>
              </a:solidFill>
            </a:endParaRPr>
          </a:p>
          <a:p>
            <a:pPr marL="0" indent="0">
              <a:buNone/>
            </a:pPr>
            <a:endParaRPr lang="es-AR" dirty="0">
              <a:solidFill>
                <a:srgbClr val="FF0000"/>
              </a:solidFill>
            </a:endParaRPr>
          </a:p>
        </p:txBody>
      </p:sp>
      <p:sp>
        <p:nvSpPr>
          <p:cNvPr id="2" name="Título 1"/>
          <p:cNvSpPr>
            <a:spLocks noGrp="1"/>
          </p:cNvSpPr>
          <p:nvPr>
            <p:ph type="title"/>
          </p:nvPr>
        </p:nvSpPr>
        <p:spPr>
          <a:xfrm>
            <a:off x="1371600" y="685800"/>
            <a:ext cx="9601200" cy="1097280"/>
          </a:xfrm>
        </p:spPr>
        <p:txBody>
          <a:bodyPr/>
          <a:lstStyle/>
          <a:p>
            <a:r>
              <a:rPr lang="es-ES" dirty="0" smtClean="0">
                <a:solidFill>
                  <a:schemeClr val="bg1"/>
                </a:solidFill>
              </a:rPr>
              <a:t>¿Cómo se asigna una IP a una red?</a:t>
            </a:r>
          </a:p>
        </p:txBody>
      </p:sp>
    </p:spTree>
    <p:extLst>
      <p:ext uri="{BB962C8B-B14F-4D97-AF65-F5344CB8AC3E}">
        <p14:creationId xmlns:p14="http://schemas.microsoft.com/office/powerpoint/2010/main" val="3760597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371600" y="1783080"/>
            <a:ext cx="9601200" cy="4764476"/>
          </a:xfrm>
        </p:spPr>
        <p:txBody>
          <a:bodyPr>
            <a:normAutofit/>
          </a:bodyPr>
          <a:lstStyle/>
          <a:p>
            <a:pPr marL="0" indent="0">
              <a:buNone/>
            </a:pPr>
            <a:r>
              <a:rPr lang="es-ES" sz="3600" dirty="0" smtClean="0">
                <a:solidFill>
                  <a:srgbClr val="FFC000"/>
                </a:solidFill>
              </a:rPr>
              <a:t>Otra manera de definir la IP y su máscara es con el número de bits que corresponden a la parte superior: en caso de 255.255.255.0 sería 24 bits, por lo tanto la red del ejemplo anterior sería 192.168.1.0/24</a:t>
            </a:r>
          </a:p>
          <a:p>
            <a:pPr marL="0" indent="0">
              <a:buNone/>
            </a:pPr>
            <a:r>
              <a:rPr lang="es-ES" sz="3600" dirty="0" smtClean="0">
                <a:solidFill>
                  <a:srgbClr val="FFC000"/>
                </a:solidFill>
              </a:rPr>
              <a:t>El caso de la red con 255.255.0.0 tiene 16 bits en la parte superior, por lo tanto la red sería 192.168.0.0/16</a:t>
            </a:r>
          </a:p>
          <a:p>
            <a:pPr marL="0" indent="0">
              <a:buNone/>
            </a:pPr>
            <a:endParaRPr lang="es-ES" sz="3600" dirty="0">
              <a:solidFill>
                <a:srgbClr val="FFC000"/>
              </a:solidFill>
            </a:endParaRPr>
          </a:p>
          <a:p>
            <a:pPr marL="0" indent="0">
              <a:buNone/>
            </a:pPr>
            <a:endParaRPr lang="es-AR" dirty="0">
              <a:solidFill>
                <a:srgbClr val="FF0000"/>
              </a:solidFill>
            </a:endParaRPr>
          </a:p>
        </p:txBody>
      </p:sp>
      <p:sp>
        <p:nvSpPr>
          <p:cNvPr id="2" name="Título 1"/>
          <p:cNvSpPr>
            <a:spLocks noGrp="1"/>
          </p:cNvSpPr>
          <p:nvPr>
            <p:ph type="title"/>
          </p:nvPr>
        </p:nvSpPr>
        <p:spPr>
          <a:xfrm>
            <a:off x="1371600" y="685800"/>
            <a:ext cx="9601200" cy="1097280"/>
          </a:xfrm>
        </p:spPr>
        <p:txBody>
          <a:bodyPr/>
          <a:lstStyle/>
          <a:p>
            <a:r>
              <a:rPr lang="es-ES" dirty="0" smtClean="0">
                <a:solidFill>
                  <a:schemeClr val="bg1"/>
                </a:solidFill>
              </a:rPr>
              <a:t>¿Cómo se asigna una IP a una red?</a:t>
            </a:r>
          </a:p>
        </p:txBody>
      </p:sp>
    </p:spTree>
    <p:extLst>
      <p:ext uri="{BB962C8B-B14F-4D97-AF65-F5344CB8AC3E}">
        <p14:creationId xmlns:p14="http://schemas.microsoft.com/office/powerpoint/2010/main" val="3946104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Capa de Aplicación y Transporte</a:t>
            </a:r>
            <a:endParaRPr lang="es-AR" dirty="0"/>
          </a:p>
        </p:txBody>
      </p:sp>
      <p:pic>
        <p:nvPicPr>
          <p:cNvPr id="5"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52132" y="2603314"/>
            <a:ext cx="7840136" cy="357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390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TCP</a:t>
            </a:r>
            <a:endParaRPr lang="es-AR" dirty="0"/>
          </a:p>
        </p:txBody>
      </p:sp>
      <p:pic>
        <p:nvPicPr>
          <p:cNvPr id="1026" name="Picture 2" descr="Data sent over the internet goes through four layers on the way out and then again in reverse order on the way back in, as it's reassembled on the receiving en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2660" y="2286000"/>
            <a:ext cx="787908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8440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CAPA DE TRANSPORTE</a:t>
            </a:r>
            <a:br>
              <a:rPr lang="es-ES" dirty="0" smtClean="0"/>
            </a:br>
            <a:r>
              <a:rPr lang="es-ES" dirty="0" smtClean="0"/>
              <a:t>Control de Flujo</a:t>
            </a:r>
            <a:endParaRPr lang="es-AR" dirty="0"/>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83380" y="1966493"/>
            <a:ext cx="3977640" cy="4517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6716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Marcador de contenido 7"/>
          <p:cNvPicPr>
            <a:picLocks noGrp="1" noChangeAspect="1"/>
          </p:cNvPicPr>
          <p:nvPr>
            <p:ph idx="1"/>
          </p:nvPr>
        </p:nvPicPr>
        <p:blipFill>
          <a:blip r:embed="rId2"/>
          <a:stretch>
            <a:fillRect/>
          </a:stretch>
        </p:blipFill>
        <p:spPr>
          <a:xfrm>
            <a:off x="2446020" y="729930"/>
            <a:ext cx="7543800" cy="5481960"/>
          </a:xfrm>
          <a:prstGeom prst="rect">
            <a:avLst/>
          </a:prstGeom>
        </p:spPr>
      </p:pic>
    </p:spTree>
    <p:extLst>
      <p:ext uri="{BB962C8B-B14F-4D97-AF65-F5344CB8AC3E}">
        <p14:creationId xmlns:p14="http://schemas.microsoft.com/office/powerpoint/2010/main" val="6776340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Marcador de contenido 4"/>
          <p:cNvPicPr>
            <a:picLocks noGrp="1" noChangeAspect="1"/>
          </p:cNvPicPr>
          <p:nvPr>
            <p:ph idx="1"/>
          </p:nvPr>
        </p:nvPicPr>
        <p:blipFill>
          <a:blip r:embed="rId2"/>
          <a:stretch>
            <a:fillRect/>
          </a:stretch>
        </p:blipFill>
        <p:spPr>
          <a:xfrm>
            <a:off x="1378137" y="1074420"/>
            <a:ext cx="9816726" cy="4884420"/>
          </a:xfrm>
          <a:prstGeom prst="rect">
            <a:avLst/>
          </a:prstGeom>
        </p:spPr>
      </p:pic>
    </p:spTree>
    <p:extLst>
      <p:ext uri="{BB962C8B-B14F-4D97-AF65-F5344CB8AC3E}">
        <p14:creationId xmlns:p14="http://schemas.microsoft.com/office/powerpoint/2010/main" val="26078144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https://i.stack.imgur.com/WtFou.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5889" y="432538"/>
            <a:ext cx="10378442" cy="6259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57466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es-ES" dirty="0" smtClean="0"/>
              <a:t>DNS</a:t>
            </a:r>
            <a:br>
              <a:rPr lang="es-ES" dirty="0" smtClean="0"/>
            </a:br>
            <a:r>
              <a:rPr lang="es-ES" dirty="0" smtClean="0"/>
              <a:t>(</a:t>
            </a:r>
            <a:r>
              <a:rPr lang="es-ES" dirty="0" err="1" smtClean="0"/>
              <a:t>Domain</a:t>
            </a:r>
            <a:r>
              <a:rPr lang="es-ES" dirty="0" smtClean="0"/>
              <a:t> </a:t>
            </a:r>
            <a:r>
              <a:rPr lang="es-ES" dirty="0" err="1" smtClean="0"/>
              <a:t>Name</a:t>
            </a:r>
            <a:r>
              <a:rPr lang="es-ES" dirty="0" smtClean="0"/>
              <a:t> </a:t>
            </a:r>
            <a:r>
              <a:rPr lang="es-ES" dirty="0" err="1" smtClean="0"/>
              <a:t>System</a:t>
            </a:r>
            <a:r>
              <a:rPr lang="es-ES" dirty="0" smtClean="0"/>
              <a:t>)</a:t>
            </a:r>
            <a:endParaRPr lang="es-AR" dirty="0"/>
          </a:p>
        </p:txBody>
      </p:sp>
      <p:sp>
        <p:nvSpPr>
          <p:cNvPr id="4" name="Marcador de contenido 3"/>
          <p:cNvSpPr>
            <a:spLocks noGrp="1"/>
          </p:cNvSpPr>
          <p:nvPr>
            <p:ph idx="1"/>
          </p:nvPr>
        </p:nvSpPr>
        <p:spPr/>
        <p:txBody>
          <a:bodyPr/>
          <a:lstStyle/>
          <a:p>
            <a:r>
              <a:rPr lang="es-ES" dirty="0" smtClean="0"/>
              <a:t>Permite utilizar nombres en vez de direcciones IP</a:t>
            </a:r>
          </a:p>
          <a:p>
            <a:r>
              <a:rPr lang="es-ES" dirty="0" smtClean="0"/>
              <a:t>Cada nombre estará asociado a una dirección IP (en principio)</a:t>
            </a:r>
          </a:p>
          <a:p>
            <a:r>
              <a:rPr lang="es-AR" i="1" dirty="0" smtClean="0"/>
              <a:t>“La </a:t>
            </a:r>
            <a:r>
              <a:rPr lang="es-AR" i="1" dirty="0"/>
              <a:t>esencia del DNS es la invención de un esquema jerárquico de nombres basado en dominios y </a:t>
            </a:r>
            <a:r>
              <a:rPr lang="es-AR" i="1" dirty="0" smtClean="0"/>
              <a:t>un sistema </a:t>
            </a:r>
            <a:r>
              <a:rPr lang="es-AR" i="1" dirty="0"/>
              <a:t>de base de datos distribuido para implementar este esquema de nombres</a:t>
            </a:r>
            <a:r>
              <a:rPr lang="es-AR" i="1" dirty="0" smtClean="0"/>
              <a:t>.”</a:t>
            </a:r>
          </a:p>
          <a:p>
            <a:pPr marL="0" indent="0">
              <a:buNone/>
            </a:pPr>
            <a:r>
              <a:rPr lang="es-AR" dirty="0"/>
              <a:t/>
            </a:r>
            <a:br>
              <a:rPr lang="es-AR" dirty="0"/>
            </a:br>
            <a:endParaRPr lang="es-AR" dirty="0"/>
          </a:p>
        </p:txBody>
      </p:sp>
    </p:spTree>
    <p:extLst>
      <p:ext uri="{BB962C8B-B14F-4D97-AF65-F5344CB8AC3E}">
        <p14:creationId xmlns:p14="http://schemas.microsoft.com/office/powerpoint/2010/main" val="14874865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Marcador de contenido 2"/>
          <p:cNvPicPr>
            <a:picLocks noGrp="1" noChangeAspect="1"/>
          </p:cNvPicPr>
          <p:nvPr>
            <p:ph idx="1"/>
          </p:nvPr>
        </p:nvPicPr>
        <p:blipFill>
          <a:blip r:embed="rId2"/>
          <a:stretch>
            <a:fillRect/>
          </a:stretch>
        </p:blipFill>
        <p:spPr>
          <a:xfrm>
            <a:off x="1010356" y="1038578"/>
            <a:ext cx="10781258" cy="4352747"/>
          </a:xfrm>
          <a:prstGeom prst="rect">
            <a:avLst/>
          </a:prstGeom>
        </p:spPr>
      </p:pic>
    </p:spTree>
    <p:extLst>
      <p:ext uri="{BB962C8B-B14F-4D97-AF65-F5344CB8AC3E}">
        <p14:creationId xmlns:p14="http://schemas.microsoft.com/office/powerpoint/2010/main" val="15969635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Marcador de contenido 2"/>
          <p:cNvPicPr>
            <a:picLocks noGrp="1" noChangeAspect="1"/>
          </p:cNvPicPr>
          <p:nvPr>
            <p:ph idx="1"/>
          </p:nvPr>
        </p:nvPicPr>
        <p:blipFill>
          <a:blip r:embed="rId2"/>
          <a:stretch>
            <a:fillRect/>
          </a:stretch>
        </p:blipFill>
        <p:spPr>
          <a:xfrm>
            <a:off x="1010356" y="1038578"/>
            <a:ext cx="10781258" cy="4352747"/>
          </a:xfrm>
          <a:prstGeom prst="rect">
            <a:avLst/>
          </a:prstGeom>
        </p:spPr>
      </p:pic>
      <p:sp>
        <p:nvSpPr>
          <p:cNvPr id="2" name="Elipse 1"/>
          <p:cNvSpPr/>
          <p:nvPr/>
        </p:nvSpPr>
        <p:spPr>
          <a:xfrm>
            <a:off x="7744178" y="564444"/>
            <a:ext cx="4047436" cy="1512712"/>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3"/>
          <p:cNvSpPr/>
          <p:nvPr/>
        </p:nvSpPr>
        <p:spPr>
          <a:xfrm>
            <a:off x="1329267" y="201347"/>
            <a:ext cx="6096000" cy="1200329"/>
          </a:xfrm>
          <a:prstGeom prst="rect">
            <a:avLst/>
          </a:prstGeom>
        </p:spPr>
        <p:txBody>
          <a:bodyPr>
            <a:spAutoFit/>
          </a:bodyPr>
          <a:lstStyle/>
          <a:p>
            <a:r>
              <a:rPr lang="en-US" dirty="0"/>
              <a:t>Root domain </a:t>
            </a:r>
            <a:r>
              <a:rPr lang="en-US" dirty="0" err="1"/>
              <a:t>nameservers</a:t>
            </a:r>
            <a:r>
              <a:rPr lang="en-US" dirty="0"/>
              <a:t> (</a:t>
            </a:r>
            <a:r>
              <a:rPr lang="en-US" dirty="0" err="1"/>
              <a:t>Servidores</a:t>
            </a:r>
            <a:r>
              <a:rPr lang="en-US" dirty="0"/>
              <a:t> de </a:t>
            </a:r>
            <a:r>
              <a:rPr lang="en-US" dirty="0" err="1"/>
              <a:t>Nombre</a:t>
            </a:r>
            <a:r>
              <a:rPr lang="en-US" dirty="0"/>
              <a:t> </a:t>
            </a:r>
            <a:r>
              <a:rPr lang="en-US" dirty="0" err="1"/>
              <a:t>Raiz</a:t>
            </a:r>
            <a:r>
              <a:rPr lang="en-US" dirty="0"/>
              <a:t>): </a:t>
            </a:r>
            <a:r>
              <a:rPr lang="en-US" dirty="0" err="1"/>
              <a:t>Tienen</a:t>
            </a:r>
            <a:r>
              <a:rPr lang="en-US" dirty="0"/>
              <a:t> la </a:t>
            </a:r>
            <a:r>
              <a:rPr lang="en-US" dirty="0" err="1"/>
              <a:t>información</a:t>
            </a:r>
            <a:r>
              <a:rPr lang="en-US" dirty="0"/>
              <a:t> de </a:t>
            </a:r>
            <a:r>
              <a:rPr lang="en-US" dirty="0" err="1"/>
              <a:t>todos</a:t>
            </a:r>
            <a:r>
              <a:rPr lang="en-US" dirty="0"/>
              <a:t> </a:t>
            </a:r>
            <a:r>
              <a:rPr lang="en-US" dirty="0" err="1"/>
              <a:t>los</a:t>
            </a:r>
            <a:r>
              <a:rPr lang="en-US" dirty="0"/>
              <a:t> Top-Level Domain </a:t>
            </a:r>
            <a:r>
              <a:rPr lang="en-US" dirty="0" err="1"/>
              <a:t>Nameservers</a:t>
            </a:r>
            <a:r>
              <a:rPr lang="en-US" dirty="0"/>
              <a:t>. El </a:t>
            </a:r>
            <a:r>
              <a:rPr lang="en-US" dirty="0" smtClean="0"/>
              <a:t>TLD que </a:t>
            </a:r>
            <a:r>
              <a:rPr lang="en-US" dirty="0" err="1" smtClean="0"/>
              <a:t>devuelve</a:t>
            </a:r>
            <a:r>
              <a:rPr lang="en-US" dirty="0" smtClean="0"/>
              <a:t> </a:t>
            </a:r>
            <a:r>
              <a:rPr lang="en-US" dirty="0" err="1"/>
              <a:t>es</a:t>
            </a:r>
            <a:r>
              <a:rPr lang="en-US" dirty="0"/>
              <a:t> el que </a:t>
            </a:r>
            <a:r>
              <a:rPr lang="en-US" dirty="0" err="1"/>
              <a:t>maneja</a:t>
            </a:r>
            <a:r>
              <a:rPr lang="en-US" dirty="0"/>
              <a:t> la parte mas a la </a:t>
            </a:r>
            <a:r>
              <a:rPr lang="en-US" dirty="0" err="1"/>
              <a:t>derecha</a:t>
            </a:r>
            <a:r>
              <a:rPr lang="en-US" dirty="0"/>
              <a:t> del </a:t>
            </a:r>
            <a:r>
              <a:rPr lang="en-US" dirty="0" err="1"/>
              <a:t>nombre</a:t>
            </a:r>
            <a:r>
              <a:rPr lang="en-US" dirty="0"/>
              <a:t> (.com, .org, etcetera).</a:t>
            </a:r>
          </a:p>
        </p:txBody>
      </p:sp>
    </p:spTree>
    <p:extLst>
      <p:ext uri="{BB962C8B-B14F-4D97-AF65-F5344CB8AC3E}">
        <p14:creationId xmlns:p14="http://schemas.microsoft.com/office/powerpoint/2010/main" val="38470850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Marcador de contenido 2"/>
          <p:cNvPicPr>
            <a:picLocks noGrp="1" noChangeAspect="1"/>
          </p:cNvPicPr>
          <p:nvPr>
            <p:ph idx="1"/>
          </p:nvPr>
        </p:nvPicPr>
        <p:blipFill>
          <a:blip r:embed="rId2"/>
          <a:stretch>
            <a:fillRect/>
          </a:stretch>
        </p:blipFill>
        <p:spPr>
          <a:xfrm>
            <a:off x="1010356" y="1038578"/>
            <a:ext cx="10781258" cy="4352747"/>
          </a:xfrm>
          <a:prstGeom prst="rect">
            <a:avLst/>
          </a:prstGeom>
        </p:spPr>
      </p:pic>
      <p:sp>
        <p:nvSpPr>
          <p:cNvPr id="2" name="Elipse 1"/>
          <p:cNvSpPr/>
          <p:nvPr/>
        </p:nvSpPr>
        <p:spPr>
          <a:xfrm>
            <a:off x="7744178" y="564444"/>
            <a:ext cx="4047436" cy="1512712"/>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3"/>
          <p:cNvSpPr/>
          <p:nvPr/>
        </p:nvSpPr>
        <p:spPr>
          <a:xfrm>
            <a:off x="1329267" y="201347"/>
            <a:ext cx="6096000" cy="923330"/>
          </a:xfrm>
          <a:prstGeom prst="rect">
            <a:avLst/>
          </a:prstGeom>
        </p:spPr>
        <p:txBody>
          <a:bodyPr>
            <a:spAutoFit/>
          </a:bodyPr>
          <a:lstStyle/>
          <a:p>
            <a:r>
              <a:rPr lang="en-US" dirty="0" smtClean="0"/>
              <a:t>Para el </a:t>
            </a:r>
            <a:r>
              <a:rPr lang="en-US" dirty="0" err="1" smtClean="0"/>
              <a:t>ejemplo</a:t>
            </a:r>
            <a:r>
              <a:rPr lang="en-US" dirty="0" smtClean="0"/>
              <a:t>, </a:t>
            </a:r>
            <a:r>
              <a:rPr lang="en-US" dirty="0" err="1" smtClean="0"/>
              <a:t>en</a:t>
            </a:r>
            <a:r>
              <a:rPr lang="en-US" dirty="0" smtClean="0"/>
              <a:t> el </a:t>
            </a:r>
            <a:r>
              <a:rPr lang="en-US" dirty="0" err="1" smtClean="0"/>
              <a:t>paso</a:t>
            </a:r>
            <a:r>
              <a:rPr lang="en-US" dirty="0" smtClean="0"/>
              <a:t> 3, </a:t>
            </a:r>
            <a:r>
              <a:rPr lang="en-US" dirty="0" err="1" smtClean="0"/>
              <a:t>está</a:t>
            </a:r>
            <a:r>
              <a:rPr lang="en-US" dirty="0" smtClean="0"/>
              <a:t> </a:t>
            </a:r>
            <a:r>
              <a:rPr lang="en-US" dirty="0" err="1" smtClean="0"/>
              <a:t>devolviendo</a:t>
            </a:r>
            <a:r>
              <a:rPr lang="en-US" dirty="0" smtClean="0"/>
              <a:t> el </a:t>
            </a:r>
            <a:r>
              <a:rPr lang="en-US" dirty="0" err="1" smtClean="0"/>
              <a:t>servidor</a:t>
            </a:r>
            <a:r>
              <a:rPr lang="en-US" dirty="0" smtClean="0"/>
              <a:t> de </a:t>
            </a:r>
            <a:r>
              <a:rPr lang="en-US" dirty="0" err="1" smtClean="0"/>
              <a:t>nombres</a:t>
            </a:r>
            <a:r>
              <a:rPr lang="en-US" dirty="0" smtClean="0"/>
              <a:t> “</a:t>
            </a:r>
            <a:r>
              <a:rPr lang="en-US" dirty="0" err="1" smtClean="0"/>
              <a:t>edu</a:t>
            </a:r>
            <a:r>
              <a:rPr lang="en-US" dirty="0" smtClean="0"/>
              <a:t>” que se </a:t>
            </a:r>
            <a:r>
              <a:rPr lang="en-US" dirty="0" err="1" smtClean="0"/>
              <a:t>encargará</a:t>
            </a:r>
            <a:r>
              <a:rPr lang="en-US" dirty="0" smtClean="0"/>
              <a:t> de resolver a </a:t>
            </a:r>
            <a:r>
              <a:rPr lang="en-US" dirty="0" err="1" smtClean="0"/>
              <a:t>quién</a:t>
            </a:r>
            <a:r>
              <a:rPr lang="en-US" dirty="0" smtClean="0"/>
              <a:t> </a:t>
            </a:r>
            <a:r>
              <a:rPr lang="en-US" dirty="0" err="1" smtClean="0"/>
              <a:t>corresponde</a:t>
            </a:r>
            <a:r>
              <a:rPr lang="en-US" dirty="0" smtClean="0"/>
              <a:t> </a:t>
            </a:r>
            <a:r>
              <a:rPr lang="en-US" b="1" dirty="0" smtClean="0"/>
              <a:t>washington.edu</a:t>
            </a:r>
            <a:endParaRPr lang="en-US" b="1" dirty="0"/>
          </a:p>
        </p:txBody>
      </p:sp>
    </p:spTree>
    <p:extLst>
      <p:ext uri="{BB962C8B-B14F-4D97-AF65-F5344CB8AC3E}">
        <p14:creationId xmlns:p14="http://schemas.microsoft.com/office/powerpoint/2010/main" val="39730342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Marcador de contenido 2"/>
          <p:cNvPicPr>
            <a:picLocks noGrp="1" noChangeAspect="1"/>
          </p:cNvPicPr>
          <p:nvPr>
            <p:ph idx="1"/>
          </p:nvPr>
        </p:nvPicPr>
        <p:blipFill>
          <a:blip r:embed="rId2"/>
          <a:stretch>
            <a:fillRect/>
          </a:stretch>
        </p:blipFill>
        <p:spPr>
          <a:xfrm>
            <a:off x="1010356" y="1038576"/>
            <a:ext cx="10781258" cy="4352747"/>
          </a:xfrm>
          <a:prstGeom prst="rect">
            <a:avLst/>
          </a:prstGeom>
        </p:spPr>
      </p:pic>
      <p:sp>
        <p:nvSpPr>
          <p:cNvPr id="2" name="Elipse 1"/>
          <p:cNvSpPr/>
          <p:nvPr/>
        </p:nvSpPr>
        <p:spPr>
          <a:xfrm>
            <a:off x="8009096" y="1648179"/>
            <a:ext cx="3979703" cy="1625600"/>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3"/>
          <p:cNvSpPr/>
          <p:nvPr/>
        </p:nvSpPr>
        <p:spPr>
          <a:xfrm>
            <a:off x="1329267" y="201347"/>
            <a:ext cx="6096000" cy="646331"/>
          </a:xfrm>
          <a:prstGeom prst="rect">
            <a:avLst/>
          </a:prstGeom>
        </p:spPr>
        <p:txBody>
          <a:bodyPr>
            <a:spAutoFit/>
          </a:bodyPr>
          <a:lstStyle/>
          <a:p>
            <a:r>
              <a:rPr lang="en-US" dirty="0" smtClean="0"/>
              <a:t>El TLD </a:t>
            </a:r>
            <a:r>
              <a:rPr lang="en-US" dirty="0" err="1" smtClean="0"/>
              <a:t>pasa</a:t>
            </a:r>
            <a:r>
              <a:rPr lang="en-US" dirty="0" smtClean="0"/>
              <a:t> el Authoritative NS para </a:t>
            </a:r>
            <a:r>
              <a:rPr lang="en-US" dirty="0" err="1" smtClean="0"/>
              <a:t>ir</a:t>
            </a:r>
            <a:r>
              <a:rPr lang="en-US" dirty="0" smtClean="0"/>
              <a:t> </a:t>
            </a:r>
            <a:r>
              <a:rPr lang="en-US" dirty="0" err="1" smtClean="0"/>
              <a:t>hacia</a:t>
            </a:r>
            <a:r>
              <a:rPr lang="en-US" dirty="0" smtClean="0"/>
              <a:t> </a:t>
            </a:r>
            <a:r>
              <a:rPr lang="en-US" dirty="0" err="1" smtClean="0"/>
              <a:t>los</a:t>
            </a:r>
            <a:r>
              <a:rPr lang="en-US" dirty="0" smtClean="0"/>
              <a:t> </a:t>
            </a:r>
            <a:r>
              <a:rPr lang="en-US" dirty="0" err="1" smtClean="0"/>
              <a:t>pasos</a:t>
            </a:r>
            <a:r>
              <a:rPr lang="en-US" dirty="0" smtClean="0"/>
              <a:t> finales de la </a:t>
            </a:r>
            <a:r>
              <a:rPr lang="en-US" dirty="0" err="1" smtClean="0"/>
              <a:t>resolución</a:t>
            </a:r>
            <a:r>
              <a:rPr lang="en-US" dirty="0" smtClean="0"/>
              <a:t> del </a:t>
            </a:r>
            <a:r>
              <a:rPr lang="en-US" dirty="0" err="1" smtClean="0"/>
              <a:t>nombre</a:t>
            </a:r>
            <a:r>
              <a:rPr lang="en-US" dirty="0" smtClean="0"/>
              <a:t>.</a:t>
            </a:r>
            <a:endParaRPr lang="en-US" dirty="0"/>
          </a:p>
        </p:txBody>
      </p:sp>
      <p:sp>
        <p:nvSpPr>
          <p:cNvPr id="5" name="Rectángulo 4"/>
          <p:cNvSpPr/>
          <p:nvPr/>
        </p:nvSpPr>
        <p:spPr>
          <a:xfrm>
            <a:off x="1131711" y="5391323"/>
            <a:ext cx="6096000" cy="646331"/>
          </a:xfrm>
          <a:prstGeom prst="rect">
            <a:avLst/>
          </a:prstGeom>
        </p:spPr>
        <p:txBody>
          <a:bodyPr>
            <a:spAutoFit/>
          </a:bodyPr>
          <a:lstStyle/>
          <a:p>
            <a:r>
              <a:rPr lang="en-US" i="1" dirty="0" err="1" smtClean="0"/>
              <a:t>Ejemplo</a:t>
            </a:r>
            <a:r>
              <a:rPr lang="en-US" i="1" dirty="0" smtClean="0"/>
              <a:t> </a:t>
            </a:r>
            <a:r>
              <a:rPr lang="en-US" i="1" dirty="0" err="1" smtClean="0"/>
              <a:t>resumido</a:t>
            </a:r>
            <a:r>
              <a:rPr lang="en-US" i="1" dirty="0" smtClean="0"/>
              <a:t> y </a:t>
            </a:r>
            <a:r>
              <a:rPr lang="en-US" i="1" dirty="0" err="1" smtClean="0"/>
              <a:t>explicado</a:t>
            </a:r>
            <a:r>
              <a:rPr lang="en-US" i="1" dirty="0" smtClean="0"/>
              <a:t> del </a:t>
            </a:r>
            <a:r>
              <a:rPr lang="en-US" i="1" dirty="0" err="1" smtClean="0"/>
              <a:t>libro</a:t>
            </a:r>
            <a:r>
              <a:rPr lang="en-US" i="1" dirty="0" smtClean="0"/>
              <a:t> </a:t>
            </a:r>
            <a:r>
              <a:rPr lang="en-US" i="1" dirty="0" err="1" smtClean="0"/>
              <a:t>Redes</a:t>
            </a:r>
            <a:r>
              <a:rPr lang="en-US" i="1" dirty="0" smtClean="0"/>
              <a:t> de </a:t>
            </a:r>
            <a:r>
              <a:rPr lang="en-US" i="1" dirty="0" err="1" smtClean="0"/>
              <a:t>Computadoras</a:t>
            </a:r>
            <a:r>
              <a:rPr lang="en-US" i="1" dirty="0" smtClean="0"/>
              <a:t> de </a:t>
            </a:r>
            <a:r>
              <a:rPr lang="en-US" i="1" dirty="0" err="1" smtClean="0"/>
              <a:t>Tanenbaum</a:t>
            </a:r>
            <a:endParaRPr lang="en-US" i="1" dirty="0"/>
          </a:p>
        </p:txBody>
      </p:sp>
    </p:spTree>
    <p:extLst>
      <p:ext uri="{BB962C8B-B14F-4D97-AF65-F5344CB8AC3E}">
        <p14:creationId xmlns:p14="http://schemas.microsoft.com/office/powerpoint/2010/main" val="40617023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Marcador de contenido 2"/>
          <p:cNvPicPr>
            <a:picLocks noGrp="1" noChangeAspect="1"/>
          </p:cNvPicPr>
          <p:nvPr>
            <p:ph idx="1"/>
          </p:nvPr>
        </p:nvPicPr>
        <p:blipFill>
          <a:blip r:embed="rId2"/>
          <a:stretch>
            <a:fillRect/>
          </a:stretch>
        </p:blipFill>
        <p:spPr>
          <a:xfrm>
            <a:off x="1010356" y="1038576"/>
            <a:ext cx="10781258" cy="4352747"/>
          </a:xfrm>
          <a:prstGeom prst="rect">
            <a:avLst/>
          </a:prstGeom>
        </p:spPr>
      </p:pic>
      <p:sp>
        <p:nvSpPr>
          <p:cNvPr id="2" name="Elipse 1"/>
          <p:cNvSpPr/>
          <p:nvPr/>
        </p:nvSpPr>
        <p:spPr>
          <a:xfrm>
            <a:off x="8009097" y="3214950"/>
            <a:ext cx="3358814" cy="3013605"/>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3"/>
          <p:cNvSpPr/>
          <p:nvPr/>
        </p:nvSpPr>
        <p:spPr>
          <a:xfrm>
            <a:off x="1329267" y="201347"/>
            <a:ext cx="6096000" cy="1754326"/>
          </a:xfrm>
          <a:prstGeom prst="rect">
            <a:avLst/>
          </a:prstGeom>
        </p:spPr>
        <p:txBody>
          <a:bodyPr>
            <a:spAutoFit/>
          </a:bodyPr>
          <a:lstStyle/>
          <a:p>
            <a:r>
              <a:rPr lang="en-US" dirty="0"/>
              <a:t>Authoritative </a:t>
            </a:r>
            <a:r>
              <a:rPr lang="en-US" dirty="0" err="1" smtClean="0"/>
              <a:t>nameserver</a:t>
            </a:r>
            <a:r>
              <a:rPr lang="en-US" dirty="0" smtClean="0"/>
              <a:t>: Son el </a:t>
            </a:r>
            <a:r>
              <a:rPr lang="en-US" dirty="0" err="1" smtClean="0"/>
              <a:t>paso</a:t>
            </a:r>
            <a:r>
              <a:rPr lang="en-US" dirty="0" smtClean="0"/>
              <a:t> final para </a:t>
            </a:r>
            <a:r>
              <a:rPr lang="en-US" dirty="0" err="1" smtClean="0"/>
              <a:t>obtener</a:t>
            </a:r>
            <a:r>
              <a:rPr lang="en-US" dirty="0" smtClean="0"/>
              <a:t> la IP </a:t>
            </a:r>
            <a:r>
              <a:rPr lang="en-US" dirty="0" err="1" smtClean="0"/>
              <a:t>definitiva</a:t>
            </a:r>
            <a:r>
              <a:rPr lang="en-US" dirty="0" smtClean="0"/>
              <a:t>, y </a:t>
            </a:r>
            <a:r>
              <a:rPr lang="en-US" dirty="0" err="1" smtClean="0"/>
              <a:t>si</a:t>
            </a:r>
            <a:r>
              <a:rPr lang="en-US" dirty="0" smtClean="0"/>
              <a:t> a </a:t>
            </a:r>
            <a:r>
              <a:rPr lang="en-US" dirty="0" err="1" smtClean="0"/>
              <a:t>partir</a:t>
            </a:r>
            <a:r>
              <a:rPr lang="en-US" dirty="0" smtClean="0"/>
              <a:t> de </a:t>
            </a:r>
            <a:r>
              <a:rPr lang="en-US" dirty="0" err="1" smtClean="0"/>
              <a:t>acá</a:t>
            </a:r>
            <a:r>
              <a:rPr lang="en-US" dirty="0" smtClean="0"/>
              <a:t> </a:t>
            </a:r>
            <a:r>
              <a:rPr lang="en-US" dirty="0" err="1" smtClean="0"/>
              <a:t>sigue</a:t>
            </a:r>
            <a:r>
              <a:rPr lang="en-US" dirty="0" smtClean="0"/>
              <a:t> </a:t>
            </a:r>
            <a:r>
              <a:rPr lang="en-US" dirty="0" err="1" smtClean="0"/>
              <a:t>teniendo</a:t>
            </a:r>
            <a:r>
              <a:rPr lang="en-US" dirty="0" smtClean="0"/>
              <a:t> </a:t>
            </a:r>
            <a:r>
              <a:rPr lang="en-US" dirty="0" err="1" smtClean="0"/>
              <a:t>subdominios</a:t>
            </a:r>
            <a:r>
              <a:rPr lang="en-US" dirty="0" smtClean="0"/>
              <a:t>, </a:t>
            </a:r>
            <a:r>
              <a:rPr lang="en-US" dirty="0" err="1" smtClean="0"/>
              <a:t>seguirá</a:t>
            </a:r>
            <a:r>
              <a:rPr lang="en-US" dirty="0" smtClean="0"/>
              <a:t> </a:t>
            </a:r>
            <a:r>
              <a:rPr lang="en-US" dirty="0" err="1" smtClean="0"/>
              <a:t>mandando</a:t>
            </a:r>
            <a:r>
              <a:rPr lang="en-US" dirty="0" smtClean="0"/>
              <a:t> </a:t>
            </a:r>
            <a:r>
              <a:rPr lang="en-US" dirty="0" err="1" smtClean="0"/>
              <a:t>peticiones</a:t>
            </a:r>
            <a:r>
              <a:rPr lang="en-US" dirty="0" smtClean="0"/>
              <a:t> al </a:t>
            </a:r>
            <a:r>
              <a:rPr lang="en-US" dirty="0" err="1" smtClean="0"/>
              <a:t>servidor</a:t>
            </a:r>
            <a:r>
              <a:rPr lang="en-US" dirty="0" smtClean="0"/>
              <a:t> de </a:t>
            </a:r>
            <a:r>
              <a:rPr lang="en-US" dirty="0" err="1" smtClean="0"/>
              <a:t>nombres</a:t>
            </a:r>
            <a:r>
              <a:rPr lang="en-US" dirty="0" smtClean="0"/>
              <a:t> hasta </a:t>
            </a:r>
            <a:r>
              <a:rPr lang="en-US" dirty="0" err="1" smtClean="0"/>
              <a:t>obtener</a:t>
            </a:r>
            <a:r>
              <a:rPr lang="en-US" dirty="0" smtClean="0"/>
              <a:t> </a:t>
            </a:r>
            <a:r>
              <a:rPr lang="en-US" dirty="0" err="1" smtClean="0"/>
              <a:t>su</a:t>
            </a:r>
            <a:r>
              <a:rPr lang="en-US" dirty="0" smtClean="0"/>
              <a:t> IP. </a:t>
            </a:r>
            <a:r>
              <a:rPr lang="en-US" dirty="0" err="1" smtClean="0"/>
              <a:t>Tener</a:t>
            </a:r>
            <a:r>
              <a:rPr lang="en-US" dirty="0" smtClean="0"/>
              <a:t> </a:t>
            </a:r>
            <a:r>
              <a:rPr lang="en-US" dirty="0" err="1" smtClean="0"/>
              <a:t>en</a:t>
            </a:r>
            <a:r>
              <a:rPr lang="en-US" dirty="0" smtClean="0"/>
              <a:t> </a:t>
            </a:r>
            <a:r>
              <a:rPr lang="en-US" dirty="0" err="1" smtClean="0"/>
              <a:t>cuenta</a:t>
            </a:r>
            <a:r>
              <a:rPr lang="en-US" dirty="0" smtClean="0"/>
              <a:t> que </a:t>
            </a:r>
            <a:r>
              <a:rPr lang="en-US" dirty="0" err="1" smtClean="0"/>
              <a:t>dentro</a:t>
            </a:r>
            <a:r>
              <a:rPr lang="en-US" dirty="0" smtClean="0"/>
              <a:t> de un </a:t>
            </a:r>
            <a:r>
              <a:rPr lang="en-US" dirty="0" err="1" smtClean="0"/>
              <a:t>mismo</a:t>
            </a:r>
            <a:r>
              <a:rPr lang="en-US" dirty="0" smtClean="0"/>
              <a:t> </a:t>
            </a:r>
            <a:r>
              <a:rPr lang="en-US" dirty="0" err="1" smtClean="0"/>
              <a:t>dominio</a:t>
            </a:r>
            <a:r>
              <a:rPr lang="en-US" dirty="0" smtClean="0"/>
              <a:t> </a:t>
            </a:r>
            <a:r>
              <a:rPr lang="en-US" dirty="0" err="1" smtClean="0"/>
              <a:t>puedo</a:t>
            </a:r>
            <a:r>
              <a:rPr lang="en-US" dirty="0" smtClean="0"/>
              <a:t> </a:t>
            </a:r>
            <a:r>
              <a:rPr lang="en-US" dirty="0" err="1" smtClean="0"/>
              <a:t>tener</a:t>
            </a:r>
            <a:r>
              <a:rPr lang="en-US" dirty="0" smtClean="0"/>
              <a:t> </a:t>
            </a:r>
            <a:r>
              <a:rPr lang="en-US" dirty="0" err="1" smtClean="0"/>
              <a:t>publicados</a:t>
            </a:r>
            <a:r>
              <a:rPr lang="en-US" dirty="0" smtClean="0"/>
              <a:t> </a:t>
            </a:r>
            <a:r>
              <a:rPr lang="en-US" dirty="0" err="1" smtClean="0"/>
              <a:t>muchos</a:t>
            </a:r>
            <a:r>
              <a:rPr lang="en-US" dirty="0" smtClean="0"/>
              <a:t> </a:t>
            </a:r>
            <a:r>
              <a:rPr lang="en-US" dirty="0" err="1" smtClean="0"/>
              <a:t>servicios</a:t>
            </a:r>
            <a:r>
              <a:rPr lang="en-US" dirty="0" smtClean="0"/>
              <a:t> </a:t>
            </a:r>
            <a:r>
              <a:rPr lang="en-US" dirty="0" err="1" smtClean="0"/>
              <a:t>mediante</a:t>
            </a:r>
            <a:r>
              <a:rPr lang="en-US" dirty="0" smtClean="0"/>
              <a:t> el </a:t>
            </a:r>
            <a:r>
              <a:rPr lang="en-US" dirty="0" err="1" smtClean="0"/>
              <a:t>uso</a:t>
            </a:r>
            <a:r>
              <a:rPr lang="en-US" dirty="0" smtClean="0"/>
              <a:t> de </a:t>
            </a:r>
            <a:r>
              <a:rPr lang="en-US" dirty="0" err="1" smtClean="0"/>
              <a:t>subdominios</a:t>
            </a:r>
            <a:r>
              <a:rPr lang="en-US" dirty="0" smtClean="0"/>
              <a:t>.</a:t>
            </a:r>
            <a:endParaRPr lang="en-US" dirty="0"/>
          </a:p>
        </p:txBody>
      </p:sp>
      <p:sp>
        <p:nvSpPr>
          <p:cNvPr id="5" name="Rectángulo 4"/>
          <p:cNvSpPr/>
          <p:nvPr/>
        </p:nvSpPr>
        <p:spPr>
          <a:xfrm>
            <a:off x="1131711" y="5391323"/>
            <a:ext cx="6096000" cy="646331"/>
          </a:xfrm>
          <a:prstGeom prst="rect">
            <a:avLst/>
          </a:prstGeom>
        </p:spPr>
        <p:txBody>
          <a:bodyPr>
            <a:spAutoFit/>
          </a:bodyPr>
          <a:lstStyle/>
          <a:p>
            <a:r>
              <a:rPr lang="en-US" i="1" dirty="0" err="1" smtClean="0"/>
              <a:t>Ejemplo</a:t>
            </a:r>
            <a:r>
              <a:rPr lang="en-US" i="1" dirty="0" smtClean="0"/>
              <a:t> </a:t>
            </a:r>
            <a:r>
              <a:rPr lang="en-US" i="1" dirty="0" err="1" smtClean="0"/>
              <a:t>resumido</a:t>
            </a:r>
            <a:r>
              <a:rPr lang="en-US" i="1" dirty="0" smtClean="0"/>
              <a:t> y </a:t>
            </a:r>
            <a:r>
              <a:rPr lang="en-US" i="1" dirty="0" err="1" smtClean="0"/>
              <a:t>explicado</a:t>
            </a:r>
            <a:r>
              <a:rPr lang="en-US" i="1" dirty="0" smtClean="0"/>
              <a:t> del </a:t>
            </a:r>
            <a:r>
              <a:rPr lang="en-US" i="1" dirty="0" err="1" smtClean="0"/>
              <a:t>libro</a:t>
            </a:r>
            <a:r>
              <a:rPr lang="en-US" i="1" dirty="0" smtClean="0"/>
              <a:t> </a:t>
            </a:r>
            <a:r>
              <a:rPr lang="en-US" i="1" dirty="0" err="1" smtClean="0"/>
              <a:t>Redes</a:t>
            </a:r>
            <a:r>
              <a:rPr lang="en-US" i="1" dirty="0" smtClean="0"/>
              <a:t> de </a:t>
            </a:r>
            <a:r>
              <a:rPr lang="en-US" i="1" dirty="0" err="1" smtClean="0"/>
              <a:t>Computadoras</a:t>
            </a:r>
            <a:r>
              <a:rPr lang="en-US" i="1" dirty="0" smtClean="0"/>
              <a:t> de </a:t>
            </a:r>
            <a:r>
              <a:rPr lang="en-US" i="1" dirty="0" err="1" smtClean="0"/>
              <a:t>Tanenbaum</a:t>
            </a:r>
            <a:endParaRPr lang="en-US" i="1" dirty="0"/>
          </a:p>
        </p:txBody>
      </p:sp>
    </p:spTree>
    <p:extLst>
      <p:ext uri="{BB962C8B-B14F-4D97-AF65-F5344CB8AC3E}">
        <p14:creationId xmlns:p14="http://schemas.microsoft.com/office/powerpoint/2010/main" val="314294470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ítulo 3"/>
          <p:cNvSpPr>
            <a:spLocks noGrp="1"/>
          </p:cNvSpPr>
          <p:nvPr>
            <p:ph type="title"/>
          </p:nvPr>
        </p:nvSpPr>
        <p:spPr>
          <a:xfrm>
            <a:off x="844047" y="1707760"/>
            <a:ext cx="9612971" cy="2852737"/>
          </a:xfrm>
        </p:spPr>
        <p:txBody>
          <a:bodyPr>
            <a:normAutofit fontScale="90000"/>
          </a:bodyPr>
          <a:lstStyle/>
          <a:p>
            <a:r>
              <a:rPr lang="es-ES" dirty="0" smtClean="0"/>
              <a:t>Pero ¿cómo lo hace tan rápido cuando navegamos?</a:t>
            </a:r>
            <a:endParaRPr lang="es-AR" dirty="0"/>
          </a:p>
        </p:txBody>
      </p:sp>
    </p:spTree>
    <p:extLst>
      <p:ext uri="{BB962C8B-B14F-4D97-AF65-F5344CB8AC3E}">
        <p14:creationId xmlns:p14="http://schemas.microsoft.com/office/powerpoint/2010/main" val="22048742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ítulo 3"/>
          <p:cNvSpPr>
            <a:spLocks noGrp="1"/>
          </p:cNvSpPr>
          <p:nvPr>
            <p:ph type="title"/>
          </p:nvPr>
        </p:nvSpPr>
        <p:spPr>
          <a:xfrm>
            <a:off x="844047" y="1707760"/>
            <a:ext cx="9612971" cy="2852737"/>
          </a:xfrm>
        </p:spPr>
        <p:txBody>
          <a:bodyPr>
            <a:normAutofit fontScale="90000"/>
          </a:bodyPr>
          <a:lstStyle/>
          <a:p>
            <a:r>
              <a:rPr lang="es-ES" dirty="0" smtClean="0"/>
              <a:t>Se “cachea” para no tener que resolver constantemente</a:t>
            </a:r>
            <a:endParaRPr lang="es-AR" dirty="0"/>
          </a:p>
        </p:txBody>
      </p:sp>
    </p:spTree>
    <p:extLst>
      <p:ext uri="{BB962C8B-B14F-4D97-AF65-F5344CB8AC3E}">
        <p14:creationId xmlns:p14="http://schemas.microsoft.com/office/powerpoint/2010/main" val="18433076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ángulo 1"/>
          <p:cNvSpPr/>
          <p:nvPr/>
        </p:nvSpPr>
        <p:spPr>
          <a:xfrm>
            <a:off x="881814" y="282222"/>
            <a:ext cx="11219875" cy="647982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3"/>
          <p:cNvSpPr/>
          <p:nvPr/>
        </p:nvSpPr>
        <p:spPr>
          <a:xfrm>
            <a:off x="1196623" y="959555"/>
            <a:ext cx="7179733" cy="518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Rectángulo 4"/>
          <p:cNvSpPr/>
          <p:nvPr/>
        </p:nvSpPr>
        <p:spPr>
          <a:xfrm>
            <a:off x="1349024" y="1111956"/>
            <a:ext cx="4464754" cy="4238977"/>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Rectángulo 5"/>
          <p:cNvSpPr/>
          <p:nvPr/>
        </p:nvSpPr>
        <p:spPr>
          <a:xfrm>
            <a:off x="1501424" y="1264357"/>
            <a:ext cx="2088443" cy="343182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p:cNvSpPr txBox="1"/>
          <p:nvPr/>
        </p:nvSpPr>
        <p:spPr>
          <a:xfrm>
            <a:off x="1697698" y="1808580"/>
            <a:ext cx="1693333" cy="923330"/>
          </a:xfrm>
          <a:prstGeom prst="rect">
            <a:avLst/>
          </a:prstGeom>
          <a:noFill/>
          <a:ln>
            <a:noFill/>
          </a:ln>
        </p:spPr>
        <p:txBody>
          <a:bodyPr wrap="square" rtlCol="0">
            <a:spAutoFit/>
          </a:bodyPr>
          <a:lstStyle/>
          <a:p>
            <a:r>
              <a:rPr lang="es-ES" dirty="0" smtClean="0"/>
              <a:t>Web Browser</a:t>
            </a:r>
          </a:p>
          <a:p>
            <a:r>
              <a:rPr lang="es-ES" dirty="0" smtClean="0"/>
              <a:t>(Por Ejemplo Firefox)</a:t>
            </a:r>
            <a:endParaRPr lang="es-AR" dirty="0"/>
          </a:p>
        </p:txBody>
      </p:sp>
      <p:sp>
        <p:nvSpPr>
          <p:cNvPr id="11" name="Rectángulo 10"/>
          <p:cNvSpPr/>
          <p:nvPr/>
        </p:nvSpPr>
        <p:spPr>
          <a:xfrm>
            <a:off x="1574138" y="1825331"/>
            <a:ext cx="1816893" cy="90657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Disco magnético 9"/>
          <p:cNvSpPr/>
          <p:nvPr/>
        </p:nvSpPr>
        <p:spPr>
          <a:xfrm>
            <a:off x="1840089" y="2658531"/>
            <a:ext cx="1230011" cy="1004712"/>
          </a:xfrm>
          <a:prstGeom prst="flowChartMagneticDisk">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Rectángulo 11"/>
          <p:cNvSpPr/>
          <p:nvPr/>
        </p:nvSpPr>
        <p:spPr>
          <a:xfrm>
            <a:off x="1515345" y="4317997"/>
            <a:ext cx="1399742" cy="369332"/>
          </a:xfrm>
          <a:prstGeom prst="rect">
            <a:avLst/>
          </a:prstGeom>
        </p:spPr>
        <p:txBody>
          <a:bodyPr wrap="none">
            <a:spAutoFit/>
          </a:bodyPr>
          <a:lstStyle/>
          <a:p>
            <a:r>
              <a:rPr lang="es-ES" dirty="0" smtClean="0"/>
              <a:t>Aplicaciones</a:t>
            </a:r>
            <a:endParaRPr lang="es-AR" dirty="0"/>
          </a:p>
        </p:txBody>
      </p:sp>
      <p:sp>
        <p:nvSpPr>
          <p:cNvPr id="14" name="Rectángulo 13"/>
          <p:cNvSpPr/>
          <p:nvPr/>
        </p:nvSpPr>
        <p:spPr>
          <a:xfrm>
            <a:off x="1962306" y="2924579"/>
            <a:ext cx="1019445" cy="738664"/>
          </a:xfrm>
          <a:prstGeom prst="rect">
            <a:avLst/>
          </a:prstGeom>
        </p:spPr>
        <p:txBody>
          <a:bodyPr wrap="none">
            <a:spAutoFit/>
          </a:bodyPr>
          <a:lstStyle/>
          <a:p>
            <a:pPr algn="ctr"/>
            <a:r>
              <a:rPr lang="es-ES" sz="1400" dirty="0" smtClean="0"/>
              <a:t>Caché del </a:t>
            </a:r>
          </a:p>
          <a:p>
            <a:pPr algn="ctr"/>
            <a:r>
              <a:rPr lang="es-ES" sz="1400" dirty="0" smtClean="0"/>
              <a:t>navegador </a:t>
            </a:r>
          </a:p>
          <a:p>
            <a:pPr algn="ctr"/>
            <a:r>
              <a:rPr lang="es-ES" sz="1400" dirty="0" smtClean="0"/>
              <a:t>web</a:t>
            </a:r>
            <a:endParaRPr lang="es-AR" sz="1400" dirty="0"/>
          </a:p>
        </p:txBody>
      </p:sp>
      <p:sp>
        <p:nvSpPr>
          <p:cNvPr id="15" name="Rectángulo 14"/>
          <p:cNvSpPr/>
          <p:nvPr/>
        </p:nvSpPr>
        <p:spPr>
          <a:xfrm>
            <a:off x="2012137" y="4935224"/>
            <a:ext cx="3388620" cy="369332"/>
          </a:xfrm>
          <a:prstGeom prst="rect">
            <a:avLst/>
          </a:prstGeom>
        </p:spPr>
        <p:txBody>
          <a:bodyPr wrap="none">
            <a:spAutoFit/>
          </a:bodyPr>
          <a:lstStyle/>
          <a:p>
            <a:r>
              <a:rPr lang="es-ES" dirty="0" smtClean="0"/>
              <a:t>Computadora (La gestiona el SO)</a:t>
            </a:r>
            <a:endParaRPr lang="es-AR" dirty="0"/>
          </a:p>
        </p:txBody>
      </p:sp>
      <p:grpSp>
        <p:nvGrpSpPr>
          <p:cNvPr id="27" name="Grupo 26"/>
          <p:cNvGrpSpPr/>
          <p:nvPr/>
        </p:nvGrpSpPr>
        <p:grpSpPr>
          <a:xfrm>
            <a:off x="3657601" y="2731911"/>
            <a:ext cx="2088443" cy="824089"/>
            <a:chOff x="3657601" y="2731911"/>
            <a:chExt cx="2088443" cy="824089"/>
          </a:xfrm>
        </p:grpSpPr>
        <p:sp>
          <p:nvSpPr>
            <p:cNvPr id="7" name="Rectángulo 6"/>
            <p:cNvSpPr/>
            <p:nvPr/>
          </p:nvSpPr>
          <p:spPr>
            <a:xfrm>
              <a:off x="3657601" y="2731911"/>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Rectángulo 17"/>
            <p:cNvSpPr/>
            <p:nvPr/>
          </p:nvSpPr>
          <p:spPr>
            <a:xfrm>
              <a:off x="3955092" y="2954513"/>
              <a:ext cx="1592680" cy="369332"/>
            </a:xfrm>
            <a:prstGeom prst="rect">
              <a:avLst/>
            </a:prstGeom>
          </p:spPr>
          <p:txBody>
            <a:bodyPr wrap="none">
              <a:spAutoFit/>
            </a:bodyPr>
            <a:lstStyle/>
            <a:p>
              <a:r>
                <a:rPr lang="es-ES" dirty="0" smtClean="0"/>
                <a:t>Resolver Local</a:t>
              </a:r>
              <a:endParaRPr lang="es-AR" dirty="0"/>
            </a:p>
          </p:txBody>
        </p:sp>
      </p:grpSp>
      <p:sp>
        <p:nvSpPr>
          <p:cNvPr id="19" name="Rectángulo 18"/>
          <p:cNvSpPr/>
          <p:nvPr/>
        </p:nvSpPr>
        <p:spPr>
          <a:xfrm>
            <a:off x="3936206" y="5666544"/>
            <a:ext cx="1444626" cy="369332"/>
          </a:xfrm>
          <a:prstGeom prst="rect">
            <a:avLst/>
          </a:prstGeom>
        </p:spPr>
        <p:txBody>
          <a:bodyPr wrap="none">
            <a:spAutoFit/>
          </a:bodyPr>
          <a:lstStyle/>
          <a:p>
            <a:r>
              <a:rPr lang="es-ES" dirty="0" smtClean="0"/>
              <a:t>Organización</a:t>
            </a:r>
            <a:endParaRPr lang="es-AR" dirty="0"/>
          </a:p>
        </p:txBody>
      </p:sp>
      <p:grpSp>
        <p:nvGrpSpPr>
          <p:cNvPr id="25" name="Grupo 24"/>
          <p:cNvGrpSpPr/>
          <p:nvPr/>
        </p:nvGrpSpPr>
        <p:grpSpPr>
          <a:xfrm>
            <a:off x="6206946" y="2731911"/>
            <a:ext cx="2218028" cy="824089"/>
            <a:chOff x="6206946" y="2731911"/>
            <a:chExt cx="2218028" cy="824089"/>
          </a:xfrm>
        </p:grpSpPr>
        <p:sp>
          <p:nvSpPr>
            <p:cNvPr id="8" name="Rectángulo 7"/>
            <p:cNvSpPr/>
            <p:nvPr/>
          </p:nvSpPr>
          <p:spPr>
            <a:xfrm>
              <a:off x="6206946" y="2731911"/>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1" name="Rectángulo 20"/>
            <p:cNvSpPr/>
            <p:nvPr/>
          </p:nvSpPr>
          <p:spPr>
            <a:xfrm>
              <a:off x="6245983" y="2885910"/>
              <a:ext cx="2178991" cy="369332"/>
            </a:xfrm>
            <a:prstGeom prst="rect">
              <a:avLst/>
            </a:prstGeom>
          </p:spPr>
          <p:txBody>
            <a:bodyPr wrap="square">
              <a:spAutoFit/>
            </a:bodyPr>
            <a:lstStyle/>
            <a:p>
              <a:r>
                <a:rPr lang="es-ES" dirty="0" err="1" smtClean="0"/>
                <a:t>Forwarding</a:t>
              </a:r>
              <a:r>
                <a:rPr lang="es-ES" dirty="0" smtClean="0"/>
                <a:t> Resolver</a:t>
              </a:r>
              <a:endParaRPr lang="es-AR" dirty="0"/>
            </a:p>
          </p:txBody>
        </p:sp>
      </p:grpSp>
      <p:grpSp>
        <p:nvGrpSpPr>
          <p:cNvPr id="26" name="Grupo 25"/>
          <p:cNvGrpSpPr/>
          <p:nvPr/>
        </p:nvGrpSpPr>
        <p:grpSpPr>
          <a:xfrm>
            <a:off x="6993705" y="3373773"/>
            <a:ext cx="1230011" cy="1004712"/>
            <a:chOff x="6993705" y="3373773"/>
            <a:chExt cx="1230011" cy="1004712"/>
          </a:xfrm>
        </p:grpSpPr>
        <p:sp>
          <p:nvSpPr>
            <p:cNvPr id="20" name="Disco magnético 19"/>
            <p:cNvSpPr/>
            <p:nvPr/>
          </p:nvSpPr>
          <p:spPr>
            <a:xfrm>
              <a:off x="6993705" y="3373773"/>
              <a:ext cx="1230011" cy="1004712"/>
            </a:xfrm>
            <a:prstGeom prst="flowChartMagneticDisk">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Rectángulo 21"/>
            <p:cNvSpPr/>
            <p:nvPr/>
          </p:nvSpPr>
          <p:spPr>
            <a:xfrm>
              <a:off x="7036277" y="3639821"/>
              <a:ext cx="1144865" cy="738664"/>
            </a:xfrm>
            <a:prstGeom prst="rect">
              <a:avLst/>
            </a:prstGeom>
          </p:spPr>
          <p:txBody>
            <a:bodyPr wrap="none">
              <a:spAutoFit/>
            </a:bodyPr>
            <a:lstStyle/>
            <a:p>
              <a:pPr algn="ctr"/>
              <a:r>
                <a:rPr lang="es-ES" sz="1400" dirty="0" smtClean="0"/>
                <a:t>Caché para</a:t>
              </a:r>
            </a:p>
            <a:p>
              <a:pPr algn="ctr"/>
              <a:r>
                <a:rPr lang="es-ES" sz="1400" dirty="0" smtClean="0"/>
                <a:t>Toda la </a:t>
              </a:r>
            </a:p>
            <a:p>
              <a:pPr algn="ctr"/>
              <a:r>
                <a:rPr lang="es-ES" sz="1400" dirty="0" smtClean="0"/>
                <a:t>organización</a:t>
              </a:r>
              <a:endParaRPr lang="es-AR" sz="1400" dirty="0"/>
            </a:p>
          </p:txBody>
        </p:sp>
      </p:grpSp>
      <p:grpSp>
        <p:nvGrpSpPr>
          <p:cNvPr id="13" name="Grupo 12"/>
          <p:cNvGrpSpPr/>
          <p:nvPr/>
        </p:nvGrpSpPr>
        <p:grpSpPr>
          <a:xfrm>
            <a:off x="8473592" y="2731913"/>
            <a:ext cx="2137062" cy="1292093"/>
            <a:chOff x="8473592" y="2731910"/>
            <a:chExt cx="2137062" cy="824089"/>
          </a:xfrm>
        </p:grpSpPr>
        <p:sp>
          <p:nvSpPr>
            <p:cNvPr id="9" name="Rectángulo 8"/>
            <p:cNvSpPr/>
            <p:nvPr/>
          </p:nvSpPr>
          <p:spPr>
            <a:xfrm>
              <a:off x="8473592" y="2731910"/>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Rectángulo 22"/>
            <p:cNvSpPr/>
            <p:nvPr/>
          </p:nvSpPr>
          <p:spPr>
            <a:xfrm>
              <a:off x="8568150" y="2849305"/>
              <a:ext cx="2042504" cy="588894"/>
            </a:xfrm>
            <a:prstGeom prst="rect">
              <a:avLst/>
            </a:prstGeom>
          </p:spPr>
          <p:txBody>
            <a:bodyPr wrap="square">
              <a:spAutoFit/>
            </a:bodyPr>
            <a:lstStyle/>
            <a:p>
              <a:r>
                <a:rPr lang="es-ES" dirty="0" smtClean="0"/>
                <a:t>Resolver Recursivo</a:t>
              </a:r>
            </a:p>
            <a:p>
              <a:r>
                <a:rPr lang="es-ES" dirty="0" smtClean="0"/>
                <a:t>(A nivel ISP normalmente)</a:t>
              </a:r>
              <a:endParaRPr lang="es-AR" dirty="0"/>
            </a:p>
          </p:txBody>
        </p:sp>
      </p:grpSp>
      <p:sp>
        <p:nvSpPr>
          <p:cNvPr id="24" name="Rectángulo 23"/>
          <p:cNvSpPr/>
          <p:nvPr/>
        </p:nvSpPr>
        <p:spPr>
          <a:xfrm>
            <a:off x="8753451" y="559781"/>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nvGrpSpPr>
          <p:cNvPr id="28" name="Grupo 27"/>
          <p:cNvGrpSpPr/>
          <p:nvPr/>
        </p:nvGrpSpPr>
        <p:grpSpPr>
          <a:xfrm>
            <a:off x="4317761" y="3345666"/>
            <a:ext cx="1230011" cy="1004712"/>
            <a:chOff x="4317761" y="3345666"/>
            <a:chExt cx="1230011" cy="1004712"/>
          </a:xfrm>
          <a:solidFill>
            <a:schemeClr val="bg1"/>
          </a:solidFill>
        </p:grpSpPr>
        <p:sp>
          <p:nvSpPr>
            <p:cNvPr id="16" name="Disco magnético 15"/>
            <p:cNvSpPr/>
            <p:nvPr/>
          </p:nvSpPr>
          <p:spPr>
            <a:xfrm>
              <a:off x="4317761" y="3345666"/>
              <a:ext cx="1230011" cy="1004712"/>
            </a:xfrm>
            <a:prstGeom prst="flowChartMagneticDisk">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Rectángulo 16"/>
            <p:cNvSpPr/>
            <p:nvPr/>
          </p:nvSpPr>
          <p:spPr>
            <a:xfrm>
              <a:off x="4365944" y="3705669"/>
              <a:ext cx="1133644" cy="523220"/>
            </a:xfrm>
            <a:prstGeom prst="rect">
              <a:avLst/>
            </a:prstGeom>
            <a:grpFill/>
          </p:spPr>
          <p:txBody>
            <a:bodyPr wrap="none">
              <a:spAutoFit/>
            </a:bodyPr>
            <a:lstStyle/>
            <a:p>
              <a:pPr algn="ctr"/>
              <a:r>
                <a:rPr lang="es-ES" sz="1400" dirty="0" smtClean="0"/>
                <a:t>Caché Local</a:t>
              </a:r>
            </a:p>
            <a:p>
              <a:pPr algn="ctr"/>
              <a:r>
                <a:rPr lang="es-ES" sz="1400" dirty="0" smtClean="0"/>
                <a:t>Del equipo</a:t>
              </a:r>
              <a:endParaRPr lang="es-AR" sz="1400" dirty="0"/>
            </a:p>
          </p:txBody>
        </p:sp>
      </p:grpSp>
      <p:sp>
        <p:nvSpPr>
          <p:cNvPr id="30" name="Rectángulo 29"/>
          <p:cNvSpPr/>
          <p:nvPr/>
        </p:nvSpPr>
        <p:spPr>
          <a:xfrm>
            <a:off x="4932766" y="6248157"/>
            <a:ext cx="944169" cy="369332"/>
          </a:xfrm>
          <a:prstGeom prst="rect">
            <a:avLst/>
          </a:prstGeom>
        </p:spPr>
        <p:txBody>
          <a:bodyPr wrap="none">
            <a:spAutoFit/>
          </a:bodyPr>
          <a:lstStyle/>
          <a:p>
            <a:r>
              <a:rPr lang="es-ES" dirty="0" smtClean="0"/>
              <a:t>Internet</a:t>
            </a:r>
            <a:endParaRPr lang="es-AR" dirty="0"/>
          </a:p>
        </p:txBody>
      </p:sp>
      <p:sp>
        <p:nvSpPr>
          <p:cNvPr id="31" name="Rectángulo 30"/>
          <p:cNvSpPr/>
          <p:nvPr/>
        </p:nvSpPr>
        <p:spPr>
          <a:xfrm>
            <a:off x="9905763" y="1587812"/>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Rectángulo 31"/>
          <p:cNvSpPr/>
          <p:nvPr/>
        </p:nvSpPr>
        <p:spPr>
          <a:xfrm>
            <a:off x="9558988" y="4707845"/>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Rectángulo 32"/>
          <p:cNvSpPr/>
          <p:nvPr/>
        </p:nvSpPr>
        <p:spPr>
          <a:xfrm>
            <a:off x="9068260" y="648659"/>
            <a:ext cx="1493775" cy="646331"/>
          </a:xfrm>
          <a:prstGeom prst="rect">
            <a:avLst/>
          </a:prstGeom>
        </p:spPr>
        <p:txBody>
          <a:bodyPr wrap="square">
            <a:spAutoFit/>
          </a:bodyPr>
          <a:lstStyle/>
          <a:p>
            <a:r>
              <a:rPr lang="es-ES" dirty="0" err="1" smtClean="0"/>
              <a:t>Authoritative</a:t>
            </a:r>
            <a:endParaRPr lang="es-ES" dirty="0"/>
          </a:p>
          <a:p>
            <a:r>
              <a:rPr lang="es-ES" dirty="0" err="1" smtClean="0"/>
              <a:t>Root</a:t>
            </a:r>
            <a:r>
              <a:rPr lang="es-ES" dirty="0" smtClean="0"/>
              <a:t> Server</a:t>
            </a:r>
            <a:endParaRPr lang="es-AR" dirty="0"/>
          </a:p>
        </p:txBody>
      </p:sp>
      <p:sp>
        <p:nvSpPr>
          <p:cNvPr id="34" name="Rectángulo 33"/>
          <p:cNvSpPr/>
          <p:nvPr/>
        </p:nvSpPr>
        <p:spPr>
          <a:xfrm>
            <a:off x="10203096" y="1634188"/>
            <a:ext cx="1493775" cy="646331"/>
          </a:xfrm>
          <a:prstGeom prst="rect">
            <a:avLst/>
          </a:prstGeom>
        </p:spPr>
        <p:txBody>
          <a:bodyPr wrap="square">
            <a:spAutoFit/>
          </a:bodyPr>
          <a:lstStyle/>
          <a:p>
            <a:r>
              <a:rPr lang="es-ES" dirty="0" err="1" smtClean="0"/>
              <a:t>Authoritative</a:t>
            </a:r>
            <a:endParaRPr lang="es-ES" dirty="0"/>
          </a:p>
          <a:p>
            <a:pPr algn="ctr"/>
            <a:r>
              <a:rPr lang="es-ES" dirty="0" smtClean="0"/>
              <a:t>TLD</a:t>
            </a:r>
            <a:endParaRPr lang="es-AR" dirty="0"/>
          </a:p>
        </p:txBody>
      </p:sp>
      <p:sp>
        <p:nvSpPr>
          <p:cNvPr id="35" name="Rectángulo 34"/>
          <p:cNvSpPr/>
          <p:nvPr/>
        </p:nvSpPr>
        <p:spPr>
          <a:xfrm>
            <a:off x="9885336" y="4796723"/>
            <a:ext cx="1493775" cy="646331"/>
          </a:xfrm>
          <a:prstGeom prst="rect">
            <a:avLst/>
          </a:prstGeom>
        </p:spPr>
        <p:txBody>
          <a:bodyPr wrap="square">
            <a:spAutoFit/>
          </a:bodyPr>
          <a:lstStyle/>
          <a:p>
            <a:r>
              <a:rPr lang="es-ES" dirty="0" err="1" smtClean="0"/>
              <a:t>Authoritative</a:t>
            </a:r>
            <a:endParaRPr lang="es-ES" dirty="0"/>
          </a:p>
          <a:p>
            <a:pPr algn="ctr"/>
            <a:r>
              <a:rPr lang="es-ES" dirty="0" smtClean="0"/>
              <a:t>NS</a:t>
            </a:r>
            <a:endParaRPr lang="es-AR" dirty="0"/>
          </a:p>
        </p:txBody>
      </p:sp>
      <p:sp>
        <p:nvSpPr>
          <p:cNvPr id="38" name="Flecha abajo 37"/>
          <p:cNvSpPr/>
          <p:nvPr/>
        </p:nvSpPr>
        <p:spPr>
          <a:xfrm>
            <a:off x="2498246" y="2419486"/>
            <a:ext cx="153514" cy="4552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0" name="Flecha abajo 39"/>
          <p:cNvSpPr/>
          <p:nvPr/>
        </p:nvSpPr>
        <p:spPr>
          <a:xfrm rot="18322070">
            <a:off x="3459990" y="2307945"/>
            <a:ext cx="218165" cy="940299"/>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1" name="Flecha abajo 40"/>
          <p:cNvSpPr/>
          <p:nvPr/>
        </p:nvSpPr>
        <p:spPr>
          <a:xfrm rot="16200000">
            <a:off x="8103375" y="2453717"/>
            <a:ext cx="205978" cy="88467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2" name="Flecha abajo 41"/>
          <p:cNvSpPr/>
          <p:nvPr/>
        </p:nvSpPr>
        <p:spPr>
          <a:xfrm rot="16200000">
            <a:off x="5893891" y="2086450"/>
            <a:ext cx="205978" cy="1611830"/>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3" name="Flecha abajo 42"/>
          <p:cNvSpPr/>
          <p:nvPr/>
        </p:nvSpPr>
        <p:spPr>
          <a:xfrm>
            <a:off x="4801173" y="3289255"/>
            <a:ext cx="153514" cy="4552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4" name="Flecha abajo 43"/>
          <p:cNvSpPr/>
          <p:nvPr/>
        </p:nvSpPr>
        <p:spPr>
          <a:xfrm>
            <a:off x="7605894" y="3305210"/>
            <a:ext cx="153514" cy="4552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5" name="Flecha abajo 44"/>
          <p:cNvSpPr/>
          <p:nvPr/>
        </p:nvSpPr>
        <p:spPr>
          <a:xfrm rot="10800000">
            <a:off x="8993419" y="1245690"/>
            <a:ext cx="185753" cy="157504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6" name="Flecha abajo 45"/>
          <p:cNvSpPr/>
          <p:nvPr/>
        </p:nvSpPr>
        <p:spPr>
          <a:xfrm rot="12246154">
            <a:off x="9850142" y="2137112"/>
            <a:ext cx="185753" cy="81500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7" name="Flecha abajo 46"/>
          <p:cNvSpPr/>
          <p:nvPr/>
        </p:nvSpPr>
        <p:spPr>
          <a:xfrm rot="19481395">
            <a:off x="10517775" y="3755810"/>
            <a:ext cx="185753" cy="1242397"/>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5358307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ángulo 1"/>
          <p:cNvSpPr/>
          <p:nvPr/>
        </p:nvSpPr>
        <p:spPr>
          <a:xfrm>
            <a:off x="881814" y="282222"/>
            <a:ext cx="11219875" cy="647982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3"/>
          <p:cNvSpPr/>
          <p:nvPr/>
        </p:nvSpPr>
        <p:spPr>
          <a:xfrm>
            <a:off x="1196623" y="959555"/>
            <a:ext cx="7179733" cy="518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Rectángulo 4"/>
          <p:cNvSpPr/>
          <p:nvPr/>
        </p:nvSpPr>
        <p:spPr>
          <a:xfrm>
            <a:off x="1349024" y="1111956"/>
            <a:ext cx="4464754" cy="4238977"/>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Rectángulo 5"/>
          <p:cNvSpPr/>
          <p:nvPr/>
        </p:nvSpPr>
        <p:spPr>
          <a:xfrm>
            <a:off x="1501424" y="1264357"/>
            <a:ext cx="2088443" cy="343182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p:cNvSpPr txBox="1"/>
          <p:nvPr/>
        </p:nvSpPr>
        <p:spPr>
          <a:xfrm>
            <a:off x="1697698" y="1808580"/>
            <a:ext cx="1693333" cy="923330"/>
          </a:xfrm>
          <a:prstGeom prst="rect">
            <a:avLst/>
          </a:prstGeom>
          <a:noFill/>
          <a:ln>
            <a:noFill/>
          </a:ln>
        </p:spPr>
        <p:txBody>
          <a:bodyPr wrap="square" rtlCol="0">
            <a:spAutoFit/>
          </a:bodyPr>
          <a:lstStyle/>
          <a:p>
            <a:r>
              <a:rPr lang="es-ES" dirty="0" smtClean="0"/>
              <a:t>Web Browser</a:t>
            </a:r>
          </a:p>
          <a:p>
            <a:r>
              <a:rPr lang="es-ES" dirty="0" smtClean="0"/>
              <a:t>(Por Ejemplo Firefox)</a:t>
            </a:r>
            <a:endParaRPr lang="es-AR" dirty="0"/>
          </a:p>
        </p:txBody>
      </p:sp>
      <p:sp>
        <p:nvSpPr>
          <p:cNvPr id="11" name="Rectángulo 10"/>
          <p:cNvSpPr/>
          <p:nvPr/>
        </p:nvSpPr>
        <p:spPr>
          <a:xfrm>
            <a:off x="1574138" y="1825331"/>
            <a:ext cx="1816893" cy="90657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Disco magnético 9"/>
          <p:cNvSpPr/>
          <p:nvPr/>
        </p:nvSpPr>
        <p:spPr>
          <a:xfrm>
            <a:off x="1840089" y="2658531"/>
            <a:ext cx="1230011" cy="1004712"/>
          </a:xfrm>
          <a:prstGeom prst="flowChartMagneticDisk">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Rectángulo 11"/>
          <p:cNvSpPr/>
          <p:nvPr/>
        </p:nvSpPr>
        <p:spPr>
          <a:xfrm>
            <a:off x="1515345" y="4317997"/>
            <a:ext cx="1399742" cy="369332"/>
          </a:xfrm>
          <a:prstGeom prst="rect">
            <a:avLst/>
          </a:prstGeom>
        </p:spPr>
        <p:txBody>
          <a:bodyPr wrap="none">
            <a:spAutoFit/>
          </a:bodyPr>
          <a:lstStyle/>
          <a:p>
            <a:r>
              <a:rPr lang="es-ES" dirty="0" smtClean="0"/>
              <a:t>Aplicaciones</a:t>
            </a:r>
            <a:endParaRPr lang="es-AR" dirty="0"/>
          </a:p>
        </p:txBody>
      </p:sp>
      <p:sp>
        <p:nvSpPr>
          <p:cNvPr id="14" name="Rectángulo 13"/>
          <p:cNvSpPr/>
          <p:nvPr/>
        </p:nvSpPr>
        <p:spPr>
          <a:xfrm>
            <a:off x="1962306" y="2924579"/>
            <a:ext cx="1019445" cy="738664"/>
          </a:xfrm>
          <a:prstGeom prst="rect">
            <a:avLst/>
          </a:prstGeom>
        </p:spPr>
        <p:txBody>
          <a:bodyPr wrap="none">
            <a:spAutoFit/>
          </a:bodyPr>
          <a:lstStyle/>
          <a:p>
            <a:pPr algn="ctr"/>
            <a:r>
              <a:rPr lang="es-ES" sz="1400" dirty="0" smtClean="0"/>
              <a:t>Caché del </a:t>
            </a:r>
          </a:p>
          <a:p>
            <a:pPr algn="ctr"/>
            <a:r>
              <a:rPr lang="es-ES" sz="1400" dirty="0" smtClean="0"/>
              <a:t>navegador </a:t>
            </a:r>
          </a:p>
          <a:p>
            <a:pPr algn="ctr"/>
            <a:r>
              <a:rPr lang="es-ES" sz="1400" dirty="0" smtClean="0"/>
              <a:t>web</a:t>
            </a:r>
            <a:endParaRPr lang="es-AR" sz="1400" dirty="0"/>
          </a:p>
        </p:txBody>
      </p:sp>
      <p:sp>
        <p:nvSpPr>
          <p:cNvPr id="15" name="Rectángulo 14"/>
          <p:cNvSpPr/>
          <p:nvPr/>
        </p:nvSpPr>
        <p:spPr>
          <a:xfrm>
            <a:off x="2012137" y="4935224"/>
            <a:ext cx="3388620" cy="369332"/>
          </a:xfrm>
          <a:prstGeom prst="rect">
            <a:avLst/>
          </a:prstGeom>
        </p:spPr>
        <p:txBody>
          <a:bodyPr wrap="none">
            <a:spAutoFit/>
          </a:bodyPr>
          <a:lstStyle/>
          <a:p>
            <a:r>
              <a:rPr lang="es-ES" dirty="0" smtClean="0"/>
              <a:t>Computadora (La gestiona el SO)</a:t>
            </a:r>
            <a:endParaRPr lang="es-AR" dirty="0"/>
          </a:p>
        </p:txBody>
      </p:sp>
      <p:grpSp>
        <p:nvGrpSpPr>
          <p:cNvPr id="27" name="Grupo 26"/>
          <p:cNvGrpSpPr/>
          <p:nvPr/>
        </p:nvGrpSpPr>
        <p:grpSpPr>
          <a:xfrm>
            <a:off x="3657601" y="2731911"/>
            <a:ext cx="2088443" cy="824089"/>
            <a:chOff x="3657601" y="2731911"/>
            <a:chExt cx="2088443" cy="824089"/>
          </a:xfrm>
        </p:grpSpPr>
        <p:sp>
          <p:nvSpPr>
            <p:cNvPr id="7" name="Rectángulo 6"/>
            <p:cNvSpPr/>
            <p:nvPr/>
          </p:nvSpPr>
          <p:spPr>
            <a:xfrm>
              <a:off x="3657601" y="2731911"/>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Rectángulo 17"/>
            <p:cNvSpPr/>
            <p:nvPr/>
          </p:nvSpPr>
          <p:spPr>
            <a:xfrm>
              <a:off x="3955092" y="2954513"/>
              <a:ext cx="1592680" cy="369332"/>
            </a:xfrm>
            <a:prstGeom prst="rect">
              <a:avLst/>
            </a:prstGeom>
          </p:spPr>
          <p:txBody>
            <a:bodyPr wrap="none">
              <a:spAutoFit/>
            </a:bodyPr>
            <a:lstStyle/>
            <a:p>
              <a:r>
                <a:rPr lang="es-ES" dirty="0" smtClean="0"/>
                <a:t>Resolver Local</a:t>
              </a:r>
              <a:endParaRPr lang="es-AR" dirty="0"/>
            </a:p>
          </p:txBody>
        </p:sp>
      </p:grpSp>
      <p:sp>
        <p:nvSpPr>
          <p:cNvPr id="19" name="Rectángulo 18"/>
          <p:cNvSpPr/>
          <p:nvPr/>
        </p:nvSpPr>
        <p:spPr>
          <a:xfrm>
            <a:off x="3936206" y="5666544"/>
            <a:ext cx="1444626" cy="369332"/>
          </a:xfrm>
          <a:prstGeom prst="rect">
            <a:avLst/>
          </a:prstGeom>
        </p:spPr>
        <p:txBody>
          <a:bodyPr wrap="none">
            <a:spAutoFit/>
          </a:bodyPr>
          <a:lstStyle/>
          <a:p>
            <a:r>
              <a:rPr lang="es-ES" dirty="0" smtClean="0"/>
              <a:t>Organización</a:t>
            </a:r>
            <a:endParaRPr lang="es-AR" dirty="0"/>
          </a:p>
        </p:txBody>
      </p:sp>
      <p:grpSp>
        <p:nvGrpSpPr>
          <p:cNvPr id="25" name="Grupo 24"/>
          <p:cNvGrpSpPr/>
          <p:nvPr/>
        </p:nvGrpSpPr>
        <p:grpSpPr>
          <a:xfrm>
            <a:off x="6206946" y="2731911"/>
            <a:ext cx="2218028" cy="824089"/>
            <a:chOff x="6206946" y="2731911"/>
            <a:chExt cx="2218028" cy="824089"/>
          </a:xfrm>
        </p:grpSpPr>
        <p:sp>
          <p:nvSpPr>
            <p:cNvPr id="8" name="Rectángulo 7"/>
            <p:cNvSpPr/>
            <p:nvPr/>
          </p:nvSpPr>
          <p:spPr>
            <a:xfrm>
              <a:off x="6206946" y="2731911"/>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1" name="Rectángulo 20"/>
            <p:cNvSpPr/>
            <p:nvPr/>
          </p:nvSpPr>
          <p:spPr>
            <a:xfrm>
              <a:off x="6245983" y="2885910"/>
              <a:ext cx="2178991" cy="369332"/>
            </a:xfrm>
            <a:prstGeom prst="rect">
              <a:avLst/>
            </a:prstGeom>
          </p:spPr>
          <p:txBody>
            <a:bodyPr wrap="square">
              <a:spAutoFit/>
            </a:bodyPr>
            <a:lstStyle/>
            <a:p>
              <a:r>
                <a:rPr lang="es-ES" dirty="0" err="1" smtClean="0"/>
                <a:t>Forwarding</a:t>
              </a:r>
              <a:r>
                <a:rPr lang="es-ES" dirty="0" smtClean="0"/>
                <a:t> Resolver</a:t>
              </a:r>
              <a:endParaRPr lang="es-AR" dirty="0"/>
            </a:p>
          </p:txBody>
        </p:sp>
      </p:grpSp>
      <p:grpSp>
        <p:nvGrpSpPr>
          <p:cNvPr id="26" name="Grupo 25"/>
          <p:cNvGrpSpPr/>
          <p:nvPr/>
        </p:nvGrpSpPr>
        <p:grpSpPr>
          <a:xfrm>
            <a:off x="6993705" y="3373773"/>
            <a:ext cx="1230011" cy="1004712"/>
            <a:chOff x="6993705" y="3373773"/>
            <a:chExt cx="1230011" cy="1004712"/>
          </a:xfrm>
        </p:grpSpPr>
        <p:sp>
          <p:nvSpPr>
            <p:cNvPr id="20" name="Disco magnético 19"/>
            <p:cNvSpPr/>
            <p:nvPr/>
          </p:nvSpPr>
          <p:spPr>
            <a:xfrm>
              <a:off x="6993705" y="3373773"/>
              <a:ext cx="1230011" cy="1004712"/>
            </a:xfrm>
            <a:prstGeom prst="flowChartMagneticDisk">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Rectángulo 21"/>
            <p:cNvSpPr/>
            <p:nvPr/>
          </p:nvSpPr>
          <p:spPr>
            <a:xfrm>
              <a:off x="7036277" y="3639821"/>
              <a:ext cx="1144865" cy="738664"/>
            </a:xfrm>
            <a:prstGeom prst="rect">
              <a:avLst/>
            </a:prstGeom>
          </p:spPr>
          <p:txBody>
            <a:bodyPr wrap="none">
              <a:spAutoFit/>
            </a:bodyPr>
            <a:lstStyle/>
            <a:p>
              <a:pPr algn="ctr"/>
              <a:r>
                <a:rPr lang="es-ES" sz="1400" dirty="0" smtClean="0"/>
                <a:t>Caché para</a:t>
              </a:r>
            </a:p>
            <a:p>
              <a:pPr algn="ctr"/>
              <a:r>
                <a:rPr lang="es-ES" sz="1400" dirty="0" smtClean="0"/>
                <a:t>Toda la </a:t>
              </a:r>
            </a:p>
            <a:p>
              <a:pPr algn="ctr"/>
              <a:r>
                <a:rPr lang="es-ES" sz="1400" dirty="0" smtClean="0"/>
                <a:t>organización</a:t>
              </a:r>
              <a:endParaRPr lang="es-AR" sz="1400" dirty="0"/>
            </a:p>
          </p:txBody>
        </p:sp>
      </p:grpSp>
      <p:grpSp>
        <p:nvGrpSpPr>
          <p:cNvPr id="13" name="Grupo 12"/>
          <p:cNvGrpSpPr/>
          <p:nvPr/>
        </p:nvGrpSpPr>
        <p:grpSpPr>
          <a:xfrm>
            <a:off x="8473592" y="2731913"/>
            <a:ext cx="2137062" cy="1292093"/>
            <a:chOff x="8473592" y="2731910"/>
            <a:chExt cx="2137062" cy="824089"/>
          </a:xfrm>
        </p:grpSpPr>
        <p:sp>
          <p:nvSpPr>
            <p:cNvPr id="9" name="Rectángulo 8"/>
            <p:cNvSpPr/>
            <p:nvPr/>
          </p:nvSpPr>
          <p:spPr>
            <a:xfrm>
              <a:off x="8473592" y="2731910"/>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Rectángulo 22"/>
            <p:cNvSpPr/>
            <p:nvPr/>
          </p:nvSpPr>
          <p:spPr>
            <a:xfrm>
              <a:off x="8568150" y="2849305"/>
              <a:ext cx="2042504" cy="588894"/>
            </a:xfrm>
            <a:prstGeom prst="rect">
              <a:avLst/>
            </a:prstGeom>
          </p:spPr>
          <p:txBody>
            <a:bodyPr wrap="square">
              <a:spAutoFit/>
            </a:bodyPr>
            <a:lstStyle/>
            <a:p>
              <a:r>
                <a:rPr lang="es-ES" dirty="0" smtClean="0"/>
                <a:t>Resolver Recursivo</a:t>
              </a:r>
            </a:p>
            <a:p>
              <a:r>
                <a:rPr lang="es-ES" dirty="0" smtClean="0"/>
                <a:t>(A nivel ISP normalmente)</a:t>
              </a:r>
              <a:endParaRPr lang="es-AR" dirty="0"/>
            </a:p>
          </p:txBody>
        </p:sp>
      </p:grpSp>
      <p:sp>
        <p:nvSpPr>
          <p:cNvPr id="24" name="Rectángulo 23"/>
          <p:cNvSpPr/>
          <p:nvPr/>
        </p:nvSpPr>
        <p:spPr>
          <a:xfrm>
            <a:off x="8753451" y="559781"/>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nvGrpSpPr>
          <p:cNvPr id="28" name="Grupo 27"/>
          <p:cNvGrpSpPr/>
          <p:nvPr/>
        </p:nvGrpSpPr>
        <p:grpSpPr>
          <a:xfrm>
            <a:off x="4317761" y="3345666"/>
            <a:ext cx="1230011" cy="1004712"/>
            <a:chOff x="4317761" y="3345666"/>
            <a:chExt cx="1230011" cy="1004712"/>
          </a:xfrm>
          <a:solidFill>
            <a:schemeClr val="bg1"/>
          </a:solidFill>
        </p:grpSpPr>
        <p:sp>
          <p:nvSpPr>
            <p:cNvPr id="16" name="Disco magnético 15"/>
            <p:cNvSpPr/>
            <p:nvPr/>
          </p:nvSpPr>
          <p:spPr>
            <a:xfrm>
              <a:off x="4317761" y="3345666"/>
              <a:ext cx="1230011" cy="1004712"/>
            </a:xfrm>
            <a:prstGeom prst="flowChartMagneticDisk">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Rectángulo 16"/>
            <p:cNvSpPr/>
            <p:nvPr/>
          </p:nvSpPr>
          <p:spPr>
            <a:xfrm>
              <a:off x="4365944" y="3705669"/>
              <a:ext cx="1133644" cy="523220"/>
            </a:xfrm>
            <a:prstGeom prst="rect">
              <a:avLst/>
            </a:prstGeom>
            <a:grpFill/>
          </p:spPr>
          <p:txBody>
            <a:bodyPr wrap="none">
              <a:spAutoFit/>
            </a:bodyPr>
            <a:lstStyle/>
            <a:p>
              <a:pPr algn="ctr"/>
              <a:r>
                <a:rPr lang="es-ES" sz="1400" dirty="0" smtClean="0"/>
                <a:t>Caché Local</a:t>
              </a:r>
            </a:p>
            <a:p>
              <a:pPr algn="ctr"/>
              <a:r>
                <a:rPr lang="es-ES" sz="1400" dirty="0" smtClean="0"/>
                <a:t>Del equipo</a:t>
              </a:r>
              <a:endParaRPr lang="es-AR" sz="1400" dirty="0"/>
            </a:p>
          </p:txBody>
        </p:sp>
      </p:grpSp>
      <p:sp>
        <p:nvSpPr>
          <p:cNvPr id="30" name="Rectángulo 29"/>
          <p:cNvSpPr/>
          <p:nvPr/>
        </p:nvSpPr>
        <p:spPr>
          <a:xfrm>
            <a:off x="4932766" y="6248157"/>
            <a:ext cx="944169" cy="369332"/>
          </a:xfrm>
          <a:prstGeom prst="rect">
            <a:avLst/>
          </a:prstGeom>
        </p:spPr>
        <p:txBody>
          <a:bodyPr wrap="none">
            <a:spAutoFit/>
          </a:bodyPr>
          <a:lstStyle/>
          <a:p>
            <a:r>
              <a:rPr lang="es-ES" dirty="0" smtClean="0"/>
              <a:t>Internet</a:t>
            </a:r>
            <a:endParaRPr lang="es-AR" dirty="0"/>
          </a:p>
        </p:txBody>
      </p:sp>
      <p:sp>
        <p:nvSpPr>
          <p:cNvPr id="31" name="Rectángulo 30"/>
          <p:cNvSpPr/>
          <p:nvPr/>
        </p:nvSpPr>
        <p:spPr>
          <a:xfrm>
            <a:off x="9905763" y="1587812"/>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Rectángulo 31"/>
          <p:cNvSpPr/>
          <p:nvPr/>
        </p:nvSpPr>
        <p:spPr>
          <a:xfrm>
            <a:off x="9558988" y="4707845"/>
            <a:ext cx="2088443" cy="824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Rectángulo 32"/>
          <p:cNvSpPr/>
          <p:nvPr/>
        </p:nvSpPr>
        <p:spPr>
          <a:xfrm>
            <a:off x="9068260" y="648659"/>
            <a:ext cx="1493775" cy="646331"/>
          </a:xfrm>
          <a:prstGeom prst="rect">
            <a:avLst/>
          </a:prstGeom>
        </p:spPr>
        <p:txBody>
          <a:bodyPr wrap="square">
            <a:spAutoFit/>
          </a:bodyPr>
          <a:lstStyle/>
          <a:p>
            <a:r>
              <a:rPr lang="es-ES" dirty="0" err="1" smtClean="0"/>
              <a:t>Authoritative</a:t>
            </a:r>
            <a:endParaRPr lang="es-ES" dirty="0"/>
          </a:p>
          <a:p>
            <a:r>
              <a:rPr lang="es-ES" dirty="0" err="1" smtClean="0"/>
              <a:t>Root</a:t>
            </a:r>
            <a:r>
              <a:rPr lang="es-ES" dirty="0" smtClean="0"/>
              <a:t> Server</a:t>
            </a:r>
            <a:endParaRPr lang="es-AR" dirty="0"/>
          </a:p>
        </p:txBody>
      </p:sp>
      <p:sp>
        <p:nvSpPr>
          <p:cNvPr id="34" name="Rectángulo 33"/>
          <p:cNvSpPr/>
          <p:nvPr/>
        </p:nvSpPr>
        <p:spPr>
          <a:xfrm>
            <a:off x="10203096" y="1634188"/>
            <a:ext cx="1493775" cy="646331"/>
          </a:xfrm>
          <a:prstGeom prst="rect">
            <a:avLst/>
          </a:prstGeom>
        </p:spPr>
        <p:txBody>
          <a:bodyPr wrap="square">
            <a:spAutoFit/>
          </a:bodyPr>
          <a:lstStyle/>
          <a:p>
            <a:r>
              <a:rPr lang="es-ES" dirty="0" err="1" smtClean="0"/>
              <a:t>Authoritative</a:t>
            </a:r>
            <a:endParaRPr lang="es-ES" dirty="0"/>
          </a:p>
          <a:p>
            <a:pPr algn="ctr"/>
            <a:r>
              <a:rPr lang="es-ES" dirty="0" smtClean="0"/>
              <a:t>TLD</a:t>
            </a:r>
            <a:endParaRPr lang="es-AR" dirty="0"/>
          </a:p>
        </p:txBody>
      </p:sp>
      <p:sp>
        <p:nvSpPr>
          <p:cNvPr id="35" name="Rectángulo 34"/>
          <p:cNvSpPr/>
          <p:nvPr/>
        </p:nvSpPr>
        <p:spPr>
          <a:xfrm>
            <a:off x="9885336" y="4796723"/>
            <a:ext cx="1493775" cy="646331"/>
          </a:xfrm>
          <a:prstGeom prst="rect">
            <a:avLst/>
          </a:prstGeom>
        </p:spPr>
        <p:txBody>
          <a:bodyPr wrap="square">
            <a:spAutoFit/>
          </a:bodyPr>
          <a:lstStyle/>
          <a:p>
            <a:r>
              <a:rPr lang="es-ES" dirty="0" err="1" smtClean="0"/>
              <a:t>Authoritative</a:t>
            </a:r>
            <a:endParaRPr lang="es-ES" dirty="0"/>
          </a:p>
          <a:p>
            <a:pPr algn="ctr"/>
            <a:r>
              <a:rPr lang="es-ES" dirty="0" smtClean="0"/>
              <a:t>NS</a:t>
            </a:r>
            <a:endParaRPr lang="es-AR" dirty="0"/>
          </a:p>
        </p:txBody>
      </p:sp>
      <p:sp>
        <p:nvSpPr>
          <p:cNvPr id="38" name="Flecha abajo 37"/>
          <p:cNvSpPr/>
          <p:nvPr/>
        </p:nvSpPr>
        <p:spPr>
          <a:xfrm>
            <a:off x="2498246" y="2419486"/>
            <a:ext cx="153514" cy="4552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0" name="Flecha abajo 39"/>
          <p:cNvSpPr/>
          <p:nvPr/>
        </p:nvSpPr>
        <p:spPr>
          <a:xfrm rot="18322070">
            <a:off x="3459990" y="2307945"/>
            <a:ext cx="218165" cy="940299"/>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1" name="Flecha abajo 40"/>
          <p:cNvSpPr/>
          <p:nvPr/>
        </p:nvSpPr>
        <p:spPr>
          <a:xfrm rot="16200000">
            <a:off x="8103375" y="2453717"/>
            <a:ext cx="205978" cy="88467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2" name="Flecha abajo 41"/>
          <p:cNvSpPr/>
          <p:nvPr/>
        </p:nvSpPr>
        <p:spPr>
          <a:xfrm rot="16200000">
            <a:off x="5893891" y="2086450"/>
            <a:ext cx="205978" cy="1611830"/>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3" name="Flecha abajo 42"/>
          <p:cNvSpPr/>
          <p:nvPr/>
        </p:nvSpPr>
        <p:spPr>
          <a:xfrm>
            <a:off x="4801173" y="3289255"/>
            <a:ext cx="153514" cy="4552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4" name="Flecha abajo 43"/>
          <p:cNvSpPr/>
          <p:nvPr/>
        </p:nvSpPr>
        <p:spPr>
          <a:xfrm>
            <a:off x="7605894" y="3305210"/>
            <a:ext cx="153514" cy="4552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5" name="Flecha abajo 44"/>
          <p:cNvSpPr/>
          <p:nvPr/>
        </p:nvSpPr>
        <p:spPr>
          <a:xfrm rot="10800000">
            <a:off x="8993419" y="1245690"/>
            <a:ext cx="185753" cy="157504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6" name="Flecha abajo 45"/>
          <p:cNvSpPr/>
          <p:nvPr/>
        </p:nvSpPr>
        <p:spPr>
          <a:xfrm rot="12246154">
            <a:off x="9850142" y="2137112"/>
            <a:ext cx="185753" cy="81500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7" name="Flecha abajo 46"/>
          <p:cNvSpPr/>
          <p:nvPr/>
        </p:nvSpPr>
        <p:spPr>
          <a:xfrm rot="19481395">
            <a:off x="10517775" y="3755810"/>
            <a:ext cx="185753" cy="1242397"/>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8" name="Elipse 47"/>
          <p:cNvSpPr/>
          <p:nvPr/>
        </p:nvSpPr>
        <p:spPr>
          <a:xfrm>
            <a:off x="6781871" y="3163087"/>
            <a:ext cx="1716702" cy="1495918"/>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9" name="Elipse 48"/>
          <p:cNvSpPr/>
          <p:nvPr/>
        </p:nvSpPr>
        <p:spPr>
          <a:xfrm>
            <a:off x="4050496" y="3159696"/>
            <a:ext cx="1716702" cy="1495918"/>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0" name="Elipse 49"/>
          <p:cNvSpPr/>
          <p:nvPr/>
        </p:nvSpPr>
        <p:spPr>
          <a:xfrm>
            <a:off x="1618532" y="2456727"/>
            <a:ext cx="1716702" cy="1495918"/>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9" name="CuadroTexto 28"/>
          <p:cNvSpPr txBox="1"/>
          <p:nvPr/>
        </p:nvSpPr>
        <p:spPr>
          <a:xfrm>
            <a:off x="1564114" y="4774145"/>
            <a:ext cx="7120773" cy="1938992"/>
          </a:xfrm>
          <a:prstGeom prst="rect">
            <a:avLst/>
          </a:prstGeom>
          <a:solidFill>
            <a:schemeClr val="bg1"/>
          </a:solidFill>
          <a:ln w="76200">
            <a:solidFill>
              <a:srgbClr val="FF0000"/>
            </a:solidFill>
            <a:prstDash val="sysDot"/>
          </a:ln>
        </p:spPr>
        <p:txBody>
          <a:bodyPr wrap="square" rtlCol="0">
            <a:spAutoFit/>
          </a:bodyPr>
          <a:lstStyle/>
          <a:p>
            <a:r>
              <a:rPr lang="es-ES" sz="2400" dirty="0" smtClean="0"/>
              <a:t>LAS DIFERENTES CACHÉ SE VAN ACTUALIZANDO A MEDIDA QUE EXISTE UN FALLO EN LA CONSULTA Y SE DEBA CONSULTAR HACIA ADELANTE.</a:t>
            </a:r>
          </a:p>
          <a:p>
            <a:r>
              <a:rPr lang="es-ES" sz="2400" dirty="0" smtClean="0"/>
              <a:t>DE ESTA MANERA SE DINAMIZA Y ACELERAN LAS CONSULTAS</a:t>
            </a:r>
            <a:endParaRPr lang="es-AR" sz="2400" dirty="0"/>
          </a:p>
        </p:txBody>
      </p:sp>
    </p:spTree>
    <p:extLst>
      <p:ext uri="{BB962C8B-B14F-4D97-AF65-F5344CB8AC3E}">
        <p14:creationId xmlns:p14="http://schemas.microsoft.com/office/powerpoint/2010/main" val="36667988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A Web document is the composition of different resour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633" y="1821951"/>
            <a:ext cx="8258175" cy="4857751"/>
          </a:xfrm>
          <a:prstGeom prst="rect">
            <a:avLst/>
          </a:prstGeom>
          <a:noFill/>
          <a:extLst>
            <a:ext uri="{909E8E84-426E-40DD-AFC4-6F175D3DCCD1}">
              <a14:hiddenFill xmlns:a14="http://schemas.microsoft.com/office/drawing/2010/main">
                <a:solidFill>
                  <a:srgbClr val="FFFFFF"/>
                </a:solidFill>
              </a14:hiddenFill>
            </a:ext>
          </a:extLst>
        </p:spPr>
      </p:pic>
      <p:sp>
        <p:nvSpPr>
          <p:cNvPr id="36" name="Título 35"/>
          <p:cNvSpPr>
            <a:spLocks noGrp="1"/>
          </p:cNvSpPr>
          <p:nvPr>
            <p:ph type="title"/>
          </p:nvPr>
        </p:nvSpPr>
        <p:spPr/>
        <p:txBody>
          <a:bodyPr/>
          <a:lstStyle/>
          <a:p>
            <a:r>
              <a:rPr lang="es-AR" smtClean="0"/>
              <a:t>El Protocolo HTTP</a:t>
            </a:r>
            <a:endParaRPr lang="es-AR"/>
          </a:p>
        </p:txBody>
      </p:sp>
    </p:spTree>
    <p:extLst>
      <p:ext uri="{BB962C8B-B14F-4D97-AF65-F5344CB8AC3E}">
        <p14:creationId xmlns:p14="http://schemas.microsoft.com/office/powerpoint/2010/main" val="26038758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DHCP (Dynamic Host Configuration Protocol)</a:t>
            </a:r>
            <a:endParaRPr lang="es-AR"/>
          </a:p>
        </p:txBody>
      </p:sp>
      <p:pic>
        <p:nvPicPr>
          <p:cNvPr id="3078" name="Picture 6" descr="https://1.bp.blogspot.com/-cFJUV54o1yU/XUUtTtpMZHI/AAAAAAAADa8/EGYdctx2CngxL2QjkwdaFTalU_XDHYshgCLcBGAs/s1600/DHCP-handshak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2323" y="1553956"/>
            <a:ext cx="4559754" cy="4741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85046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normAutofit fontScale="90000"/>
          </a:bodyPr>
          <a:lstStyle/>
          <a:p>
            <a:r>
              <a:rPr lang="es-AR" smtClean="0"/>
              <a:t>DHCP</a:t>
            </a:r>
            <a:br>
              <a:rPr lang="es-AR" smtClean="0"/>
            </a:br>
            <a:r>
              <a:rPr lang="es-AR" smtClean="0"/>
              <a:t>Direcciones APIPA (Automatic Private IP Addressing)</a:t>
            </a:r>
            <a:endParaRPr lang="es-AR"/>
          </a:p>
        </p:txBody>
      </p:sp>
      <p:sp>
        <p:nvSpPr>
          <p:cNvPr id="2" name="Marcador de contenido 1"/>
          <p:cNvSpPr>
            <a:spLocks noGrp="1"/>
          </p:cNvSpPr>
          <p:nvPr>
            <p:ph idx="1"/>
          </p:nvPr>
        </p:nvSpPr>
        <p:spPr/>
        <p:txBody>
          <a:bodyPr/>
          <a:lstStyle/>
          <a:p>
            <a:r>
              <a:rPr lang="es-AR" smtClean="0"/>
              <a:t>¿Qué pasa cuando el cliente no recibe respuesta de un servidor DHCP?</a:t>
            </a:r>
          </a:p>
          <a:p>
            <a:pPr lvl="1"/>
            <a:r>
              <a:rPr lang="es-AR" smtClean="0"/>
              <a:t>Normalmente se autoconfigura con un rango de IP entre </a:t>
            </a:r>
            <a:r>
              <a:rPr lang="es-AR" i="0"/>
              <a:t>169.254.1.0 </a:t>
            </a:r>
            <a:r>
              <a:rPr lang="es-AR" i="0" smtClean="0"/>
              <a:t>a 169.254.254.255 con máscara 255.255.0.0</a:t>
            </a:r>
          </a:p>
          <a:p>
            <a:pPr lvl="1"/>
            <a:endParaRPr lang="es-AR" i="0"/>
          </a:p>
          <a:p>
            <a:pPr lvl="1"/>
            <a:r>
              <a:rPr lang="es-AR" i="0" smtClean="0"/>
              <a:t>Esto es lo que se denomina dirección APIPA y fue creada para que el equipo tome alguna IP que permita brindar un servicio local mínimo.</a:t>
            </a:r>
          </a:p>
          <a:p>
            <a:pPr lvl="1"/>
            <a:r>
              <a:rPr lang="es-AR" i="0" smtClean="0"/>
              <a:t>Solamente se asigna si está dhcp activado y no encuentra un servidor DHCP disponible.</a:t>
            </a:r>
            <a:endParaRPr lang="es-AR"/>
          </a:p>
        </p:txBody>
      </p:sp>
    </p:spTree>
    <p:extLst>
      <p:ext uri="{BB962C8B-B14F-4D97-AF65-F5344CB8AC3E}">
        <p14:creationId xmlns:p14="http://schemas.microsoft.com/office/powerpoint/2010/main" val="41148160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Firewalls</a:t>
            </a:r>
            <a:endParaRPr lang="es-AR"/>
          </a:p>
        </p:txBody>
      </p:sp>
      <p:pic>
        <p:nvPicPr>
          <p:cNvPr id="3076" name="Picture 4" descr="https://ptgmedia.pearsoncmg.com/images/chap8_9780789759122/elementLinks/08fig01_a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6709" y="1230398"/>
            <a:ext cx="6727372" cy="5627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52701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Firewalls</a:t>
            </a:r>
            <a:endParaRPr lang="es-AR"/>
          </a:p>
        </p:txBody>
      </p:sp>
      <p:sp>
        <p:nvSpPr>
          <p:cNvPr id="2" name="Marcador de contenido 1"/>
          <p:cNvSpPr>
            <a:spLocks noGrp="1"/>
          </p:cNvSpPr>
          <p:nvPr>
            <p:ph idx="1"/>
          </p:nvPr>
        </p:nvSpPr>
        <p:spPr/>
        <p:txBody>
          <a:bodyPr/>
          <a:lstStyle/>
          <a:p>
            <a:r>
              <a:rPr lang="es-AR" smtClean="0"/>
              <a:t>Están diseñados para filtrar el tráfico de la red</a:t>
            </a:r>
          </a:p>
          <a:p>
            <a:r>
              <a:rPr lang="es-AR" smtClean="0"/>
              <a:t>Se define qué se deja pasar y qué no</a:t>
            </a:r>
          </a:p>
          <a:p>
            <a:r>
              <a:rPr lang="es-AR" smtClean="0"/>
              <a:t>Entre qué redes se puede traficar</a:t>
            </a:r>
          </a:p>
          <a:p>
            <a:r>
              <a:rPr lang="es-AR" smtClean="0"/>
              <a:t>Qué protocolos se filtrarán</a:t>
            </a:r>
          </a:p>
          <a:p>
            <a:r>
              <a:rPr lang="es-AR" smtClean="0"/>
              <a:t>Define el tráfico de información permitido entre equipos conectados.</a:t>
            </a:r>
          </a:p>
        </p:txBody>
      </p:sp>
    </p:spTree>
    <p:extLst>
      <p:ext uri="{BB962C8B-B14F-4D97-AF65-F5344CB8AC3E}">
        <p14:creationId xmlns:p14="http://schemas.microsoft.com/office/powerpoint/2010/main" val="30540015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Firewalls</a:t>
            </a:r>
            <a:endParaRPr lang="es-AR"/>
          </a:p>
        </p:txBody>
      </p:sp>
      <p:sp>
        <p:nvSpPr>
          <p:cNvPr id="2" name="Marcador de contenido 1"/>
          <p:cNvSpPr>
            <a:spLocks noGrp="1"/>
          </p:cNvSpPr>
          <p:nvPr>
            <p:ph idx="1"/>
          </p:nvPr>
        </p:nvSpPr>
        <p:spPr>
          <a:xfrm>
            <a:off x="1200150" y="1619250"/>
            <a:ext cx="9772650" cy="4248150"/>
          </a:xfrm>
        </p:spPr>
        <p:txBody>
          <a:bodyPr>
            <a:normAutofit fontScale="92500" lnSpcReduction="20000"/>
          </a:bodyPr>
          <a:lstStyle/>
          <a:p>
            <a:pPr fontAlgn="base"/>
            <a:r>
              <a:rPr lang="es-AR"/>
              <a:t>El filtrado del tráfico mediante un firewall utiliza </a:t>
            </a:r>
            <a:r>
              <a:rPr lang="es-AR" smtClean="0"/>
              <a:t>tanto reglas preestablecidas de forma estáticas, como también “aprendidas” de forma dinámica con el fin de filtrar las conexiones a un computador o toda una red.</a:t>
            </a:r>
          </a:p>
          <a:p>
            <a:pPr fontAlgn="base"/>
            <a:r>
              <a:rPr lang="es-AR" smtClean="0"/>
              <a:t>Esta regulación del tráfico se hace para el flujo entre equipos de una red privada como también para el flujo con Internet.</a:t>
            </a:r>
          </a:p>
          <a:p>
            <a:pPr fontAlgn="base"/>
            <a:r>
              <a:rPr lang="es-AR" smtClean="0"/>
              <a:t>Las reglas se establecen con algunos –o todos- los parámetros a continuación: </a:t>
            </a:r>
            <a:endParaRPr lang="es-AR"/>
          </a:p>
          <a:p>
            <a:pPr lvl="1" fontAlgn="base"/>
            <a:r>
              <a:rPr lang="es-AR" b="1"/>
              <a:t>Origen:</a:t>
            </a:r>
            <a:r>
              <a:rPr lang="es-AR"/>
              <a:t> lugar desde donde se intenta establecer la conexión.</a:t>
            </a:r>
          </a:p>
          <a:p>
            <a:pPr lvl="1" fontAlgn="base"/>
            <a:r>
              <a:rPr lang="es-AR" b="1"/>
              <a:t>Destino:</a:t>
            </a:r>
            <a:r>
              <a:rPr lang="es-AR"/>
              <a:t> lugar al que se intenta dirigir la conexión.</a:t>
            </a:r>
          </a:p>
          <a:p>
            <a:pPr lvl="1" fontAlgn="base"/>
            <a:r>
              <a:rPr lang="es-AR" b="1"/>
              <a:t>Contenido:</a:t>
            </a:r>
            <a:r>
              <a:rPr lang="es-AR"/>
              <a:t> información que la conexión está intentando enviar.</a:t>
            </a:r>
          </a:p>
          <a:p>
            <a:pPr lvl="1" fontAlgn="base"/>
            <a:r>
              <a:rPr lang="es-AR" b="1"/>
              <a:t>Protocolos del paquete:</a:t>
            </a:r>
            <a:r>
              <a:rPr lang="es-AR"/>
              <a:t> el “lenguaje” que se utiliza para transmitir el mensaje al intentar establecer la conexión. Entre los protocolos de red que los hosts utilizan para “comunicarse” entre sí, los protocolos TCP/IP se usan principalmente para comunicarse por Internet y entre intranets o subredes.</a:t>
            </a:r>
          </a:p>
          <a:p>
            <a:pPr lvl="1" fontAlgn="base"/>
            <a:r>
              <a:rPr lang="es-AR" b="1"/>
              <a:t>Protocolos de aplicaciones:</a:t>
            </a:r>
            <a:r>
              <a:rPr lang="es-AR"/>
              <a:t> los protocolos comunes incluyen HTTP, Telnet, FTP, DNS y SSH.</a:t>
            </a:r>
          </a:p>
          <a:p>
            <a:pPr marL="0" indent="0">
              <a:buNone/>
            </a:pPr>
            <a:endParaRPr lang="es-AR" smtClean="0"/>
          </a:p>
        </p:txBody>
      </p:sp>
    </p:spTree>
    <p:extLst>
      <p:ext uri="{BB962C8B-B14F-4D97-AF65-F5344CB8AC3E}">
        <p14:creationId xmlns:p14="http://schemas.microsoft.com/office/powerpoint/2010/main" val="20624572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solidFill>
                  <a:schemeClr val="tx2">
                    <a:lumMod val="10000"/>
                    <a:lumOff val="90000"/>
                  </a:schemeClr>
                </a:solidFill>
              </a:rPr>
              <a:t>Firewalls</a:t>
            </a:r>
            <a:endParaRPr lang="es-AR">
              <a:solidFill>
                <a:schemeClr val="tx2">
                  <a:lumMod val="10000"/>
                  <a:lumOff val="90000"/>
                </a:schemeClr>
              </a:solidFill>
            </a:endParaRPr>
          </a:p>
        </p:txBody>
      </p:sp>
      <p:sp>
        <p:nvSpPr>
          <p:cNvPr id="2" name="Marcador de contenido 1"/>
          <p:cNvSpPr>
            <a:spLocks noGrp="1"/>
          </p:cNvSpPr>
          <p:nvPr>
            <p:ph idx="1"/>
          </p:nvPr>
        </p:nvSpPr>
        <p:spPr/>
        <p:txBody>
          <a:bodyPr/>
          <a:lstStyle/>
          <a:p>
            <a:r>
              <a:rPr lang="es-AR" smtClean="0">
                <a:solidFill>
                  <a:schemeClr val="tx2">
                    <a:lumMod val="10000"/>
                    <a:lumOff val="90000"/>
                  </a:schemeClr>
                </a:solidFill>
              </a:rPr>
              <a:t>Según corresponda las reglas pueden configurarse para que bajo un conjunto de condiciones, el firewall realice una acción de:</a:t>
            </a:r>
          </a:p>
          <a:p>
            <a:pPr lvl="1"/>
            <a:r>
              <a:rPr lang="es-AR" b="1" smtClean="0">
                <a:solidFill>
                  <a:srgbClr val="00B050"/>
                </a:solidFill>
              </a:rPr>
              <a:t>Accept:</a:t>
            </a:r>
            <a:r>
              <a:rPr lang="es-AR" smtClean="0">
                <a:solidFill>
                  <a:schemeClr val="tx2">
                    <a:lumMod val="10000"/>
                    <a:lumOff val="90000"/>
                  </a:schemeClr>
                </a:solidFill>
              </a:rPr>
              <a:t> Aceptar la conexión</a:t>
            </a:r>
          </a:p>
          <a:p>
            <a:pPr lvl="1"/>
            <a:r>
              <a:rPr lang="es-AR" b="1" smtClean="0">
                <a:solidFill>
                  <a:srgbClr val="FF0000"/>
                </a:solidFill>
              </a:rPr>
              <a:t>Reject:</a:t>
            </a:r>
            <a:r>
              <a:rPr lang="es-AR" b="1" smtClean="0">
                <a:solidFill>
                  <a:schemeClr val="tx2">
                    <a:lumMod val="10000"/>
                    <a:lumOff val="90000"/>
                  </a:schemeClr>
                </a:solidFill>
              </a:rPr>
              <a:t> </a:t>
            </a:r>
            <a:r>
              <a:rPr lang="es-AR" smtClean="0">
                <a:solidFill>
                  <a:schemeClr val="tx2">
                    <a:lumMod val="10000"/>
                    <a:lumOff val="90000"/>
                  </a:schemeClr>
                </a:solidFill>
              </a:rPr>
              <a:t>Rechazarla y avisar al contraparte que no se acepta la conexión.</a:t>
            </a:r>
          </a:p>
          <a:p>
            <a:pPr lvl="1"/>
            <a:r>
              <a:rPr lang="es-AR" b="1" smtClean="0">
                <a:solidFill>
                  <a:srgbClr val="FFC000"/>
                </a:solidFill>
              </a:rPr>
              <a:t>Drop:</a:t>
            </a:r>
            <a:r>
              <a:rPr lang="es-AR" smtClean="0">
                <a:solidFill>
                  <a:schemeClr val="tx2">
                    <a:lumMod val="10000"/>
                    <a:lumOff val="90000"/>
                  </a:schemeClr>
                </a:solidFill>
              </a:rPr>
              <a:t> Es un rechazo pero no informa nada (útil cuando se quiere ocultar determinada actividad en la red). El emisor del paquete quedará esperando o reenviando hasta que se cierre la conexión por timeout.</a:t>
            </a:r>
          </a:p>
        </p:txBody>
      </p:sp>
    </p:spTree>
    <p:extLst>
      <p:ext uri="{BB962C8B-B14F-4D97-AF65-F5344CB8AC3E}">
        <p14:creationId xmlns:p14="http://schemas.microsoft.com/office/powerpoint/2010/main" val="29043796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Firewalls</a:t>
            </a:r>
            <a:endParaRPr lang="es-AR"/>
          </a:p>
        </p:txBody>
      </p:sp>
      <p:sp>
        <p:nvSpPr>
          <p:cNvPr id="2" name="Marcador de contenido 1"/>
          <p:cNvSpPr>
            <a:spLocks noGrp="1"/>
          </p:cNvSpPr>
          <p:nvPr>
            <p:ph idx="1"/>
          </p:nvPr>
        </p:nvSpPr>
        <p:spPr/>
        <p:txBody>
          <a:bodyPr/>
          <a:lstStyle/>
          <a:p>
            <a:r>
              <a:rPr lang="es-AR" smtClean="0"/>
              <a:t>Existen diversas formas de implementar firewall. Englobaremos dos grandes casos de implementación:</a:t>
            </a:r>
          </a:p>
          <a:p>
            <a:pPr lvl="1"/>
            <a:r>
              <a:rPr lang="es-AR" smtClean="0"/>
              <a:t>Firewall de host: el que tiene cada computador –definido/instalado en su sistema operativo- donde están las reglas de filtrado para ESE equipo.</a:t>
            </a:r>
          </a:p>
        </p:txBody>
      </p:sp>
    </p:spTree>
    <p:extLst>
      <p:ext uri="{BB962C8B-B14F-4D97-AF65-F5344CB8AC3E}">
        <p14:creationId xmlns:p14="http://schemas.microsoft.com/office/powerpoint/2010/main" val="10782991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Firewalls</a:t>
            </a:r>
            <a:endParaRPr lang="es-AR"/>
          </a:p>
        </p:txBody>
      </p:sp>
      <p:sp>
        <p:nvSpPr>
          <p:cNvPr id="2" name="Marcador de contenido 1"/>
          <p:cNvSpPr>
            <a:spLocks noGrp="1"/>
          </p:cNvSpPr>
          <p:nvPr>
            <p:ph idx="1"/>
          </p:nvPr>
        </p:nvSpPr>
        <p:spPr/>
        <p:txBody>
          <a:bodyPr/>
          <a:lstStyle/>
          <a:p>
            <a:r>
              <a:rPr lang="es-AR" smtClean="0"/>
              <a:t>Existen diversas formas de implementar firewall. Englobaremos dos grandes casos de implementación:</a:t>
            </a:r>
          </a:p>
          <a:p>
            <a:pPr lvl="1"/>
            <a:r>
              <a:rPr lang="es-AR" smtClean="0"/>
              <a:t>Firewall de host: el que tiene cada computador –definido/instalado en su sistema operativo- donde están las reglas de filtrado para ESE equipo.</a:t>
            </a:r>
          </a:p>
          <a:p>
            <a:pPr lvl="1"/>
            <a:r>
              <a:rPr lang="es-AR" smtClean="0"/>
              <a:t>Firewall de red: Define una regulación de tráfico para toda la red en conjunto, está definido aparte del firewall que trae cada host.</a:t>
            </a:r>
          </a:p>
          <a:p>
            <a:pPr marL="987552" lvl="2" indent="0">
              <a:buNone/>
            </a:pPr>
            <a:endParaRPr lang="es-AR" smtClean="0"/>
          </a:p>
        </p:txBody>
      </p:sp>
    </p:spTree>
    <p:extLst>
      <p:ext uri="{BB962C8B-B14F-4D97-AF65-F5344CB8AC3E}">
        <p14:creationId xmlns:p14="http://schemas.microsoft.com/office/powerpoint/2010/main" val="3374714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012394" y="590549"/>
            <a:ext cx="10726012" cy="5829302"/>
          </a:xfrm>
          <a:prstGeom prst="rect">
            <a:avLst/>
          </a:prstGeom>
        </p:spPr>
      </p:pic>
    </p:spTree>
    <p:extLst>
      <p:ext uri="{BB962C8B-B14F-4D97-AF65-F5344CB8AC3E}">
        <p14:creationId xmlns:p14="http://schemas.microsoft.com/office/powerpoint/2010/main" val="350937765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VPN</a:t>
            </a:r>
            <a:endParaRPr lang="es-AR"/>
          </a:p>
        </p:txBody>
      </p:sp>
      <p:sp>
        <p:nvSpPr>
          <p:cNvPr id="2" name="Marcador de contenido 1"/>
          <p:cNvSpPr>
            <a:spLocks noGrp="1"/>
          </p:cNvSpPr>
          <p:nvPr>
            <p:ph idx="1"/>
          </p:nvPr>
        </p:nvSpPr>
        <p:spPr/>
        <p:txBody>
          <a:bodyPr/>
          <a:lstStyle/>
          <a:p>
            <a:r>
              <a:rPr lang="es-AR" smtClean="0"/>
              <a:t>Para este curso definiremos dos grandes funciones para una VPN:</a:t>
            </a:r>
          </a:p>
          <a:p>
            <a:pPr lvl="1"/>
            <a:r>
              <a:rPr lang="es-AR" smtClean="0"/>
              <a:t>Extender, de forma segura, una red local a través de Internet</a:t>
            </a:r>
          </a:p>
          <a:p>
            <a:pPr lvl="1"/>
            <a:r>
              <a:rPr lang="es-AR" smtClean="0"/>
              <a:t>Brindar mayor privacidad en el tráfico web para los usuarios conectados a Internet. </a:t>
            </a:r>
          </a:p>
          <a:p>
            <a:pPr marL="987552" lvl="2" indent="0">
              <a:buNone/>
            </a:pPr>
            <a:endParaRPr lang="es-AR" smtClean="0"/>
          </a:p>
        </p:txBody>
      </p:sp>
    </p:spTree>
    <p:extLst>
      <p:ext uri="{BB962C8B-B14F-4D97-AF65-F5344CB8AC3E}">
        <p14:creationId xmlns:p14="http://schemas.microsoft.com/office/powerpoint/2010/main" val="4618134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VPN para extender red local mediante Internet</a:t>
            </a:r>
            <a:endParaRPr lang="es-AR"/>
          </a:p>
        </p:txBody>
      </p:sp>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50901" y="2171700"/>
            <a:ext cx="10642598" cy="4228580"/>
          </a:xfrm>
          <a:prstGeom prst="rect">
            <a:avLst/>
          </a:prstGeom>
        </p:spPr>
      </p:pic>
    </p:spTree>
    <p:extLst>
      <p:ext uri="{BB962C8B-B14F-4D97-AF65-F5344CB8AC3E}">
        <p14:creationId xmlns:p14="http://schemas.microsoft.com/office/powerpoint/2010/main" val="66147513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VPN para extender red local mediante Internet</a:t>
            </a:r>
            <a:endParaRPr lang="es-AR"/>
          </a:p>
        </p:txBody>
      </p:sp>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50901" y="2171700"/>
            <a:ext cx="10642598" cy="4228580"/>
          </a:xfrm>
          <a:prstGeom prst="rect">
            <a:avLst/>
          </a:prstGeom>
        </p:spPr>
      </p:pic>
      <p:cxnSp>
        <p:nvCxnSpPr>
          <p:cNvPr id="6" name="Conector recto de flecha 5"/>
          <p:cNvCxnSpPr/>
          <p:nvPr/>
        </p:nvCxnSpPr>
        <p:spPr>
          <a:xfrm flipH="1" flipV="1">
            <a:off x="5295900" y="4749800"/>
            <a:ext cx="990600" cy="7747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CuadroTexto 6"/>
          <p:cNvSpPr txBox="1"/>
          <p:nvPr/>
        </p:nvSpPr>
        <p:spPr>
          <a:xfrm>
            <a:off x="6286500" y="5295900"/>
            <a:ext cx="1943100" cy="1477328"/>
          </a:xfrm>
          <a:prstGeom prst="rect">
            <a:avLst/>
          </a:prstGeom>
          <a:noFill/>
        </p:spPr>
        <p:txBody>
          <a:bodyPr wrap="square" rtlCol="0">
            <a:spAutoFit/>
          </a:bodyPr>
          <a:lstStyle/>
          <a:p>
            <a:r>
              <a:rPr lang="es-AR" b="1" smtClean="0"/>
              <a:t>Por ejemplo:</a:t>
            </a:r>
          </a:p>
          <a:p>
            <a:r>
              <a:rPr lang="es-AR" smtClean="0"/>
              <a:t>*Openvpn</a:t>
            </a:r>
          </a:p>
          <a:p>
            <a:r>
              <a:rPr lang="es-AR" smtClean="0"/>
              <a:t>*Wireguard</a:t>
            </a:r>
          </a:p>
          <a:p>
            <a:r>
              <a:rPr lang="es-AR" smtClean="0"/>
              <a:t>*IPSEC</a:t>
            </a:r>
          </a:p>
          <a:p>
            <a:r>
              <a:rPr lang="es-AR" smtClean="0"/>
              <a:t>etcétera...</a:t>
            </a:r>
            <a:endParaRPr lang="es-AR"/>
          </a:p>
        </p:txBody>
      </p:sp>
    </p:spTree>
    <p:extLst>
      <p:ext uri="{BB962C8B-B14F-4D97-AF65-F5344CB8AC3E}">
        <p14:creationId xmlns:p14="http://schemas.microsoft.com/office/powerpoint/2010/main" val="151682551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VPN para extender red local mediante Internet</a:t>
            </a:r>
            <a:endParaRPr lang="es-AR"/>
          </a:p>
        </p:txBody>
      </p:sp>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4" name="Imagen 3"/>
          <p:cNvPicPr>
            <a:picLocks noChangeAspect="1"/>
          </p:cNvPicPr>
          <p:nvPr/>
        </p:nvPicPr>
        <p:blipFill>
          <a:blip r:embed="rId2"/>
          <a:stretch>
            <a:fillRect/>
          </a:stretch>
        </p:blipFill>
        <p:spPr>
          <a:xfrm>
            <a:off x="889000" y="2171700"/>
            <a:ext cx="10566400" cy="4335756"/>
          </a:xfrm>
          <a:prstGeom prst="rect">
            <a:avLst/>
          </a:prstGeom>
        </p:spPr>
      </p:pic>
    </p:spTree>
    <p:extLst>
      <p:ext uri="{BB962C8B-B14F-4D97-AF65-F5344CB8AC3E}">
        <p14:creationId xmlns:p14="http://schemas.microsoft.com/office/powerpoint/2010/main" val="186350371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a:xfrm>
            <a:off x="889000" y="469900"/>
            <a:ext cx="11303000" cy="1701800"/>
          </a:xfrm>
        </p:spPr>
        <p:txBody>
          <a:bodyPr>
            <a:normAutofit/>
          </a:bodyPr>
          <a:lstStyle/>
          <a:p>
            <a:r>
              <a:rPr lang="es-AR" smtClean="0"/>
              <a:t>VPN para dar mayor privacidad a la actividad de usuarios que navegan por Internet</a:t>
            </a:r>
            <a:endParaRPr lang="es-AR"/>
          </a:p>
        </p:txBody>
      </p:sp>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1128231" y="1892299"/>
            <a:ext cx="10087938" cy="4368802"/>
          </a:xfrm>
          <a:prstGeom prst="rect">
            <a:avLst/>
          </a:prstGeom>
        </p:spPr>
      </p:pic>
    </p:spTree>
    <p:extLst>
      <p:ext uri="{BB962C8B-B14F-4D97-AF65-F5344CB8AC3E}">
        <p14:creationId xmlns:p14="http://schemas.microsoft.com/office/powerpoint/2010/main" val="15253507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r>
              <a:rPr lang="es-AR" sz="2400" smtClean="0"/>
              <a:t>Vamos a fabricar un ejemplo en el que tenemos una PC que consume servicios de Internet en general:</a:t>
            </a:r>
          </a:p>
          <a:p>
            <a:pPr lvl="2"/>
            <a:r>
              <a:rPr lang="es-AR" sz="2400"/>
              <a:t>Navegar por la web</a:t>
            </a:r>
            <a:endParaRPr lang="es-AR" sz="2400" smtClean="0"/>
          </a:p>
          <a:p>
            <a:pPr lvl="2"/>
            <a:r>
              <a:rPr lang="es-AR" sz="2400" smtClean="0"/>
              <a:t>Bajar/Subir archivos en redes P2P (Torrents)</a:t>
            </a:r>
          </a:p>
          <a:p>
            <a:pPr lvl="2"/>
            <a:r>
              <a:rPr lang="es-AR" sz="2400" smtClean="0"/>
              <a:t>Ver videos y películas en servicios de streaming (Youtube, Odysee, Amazon, Netflix, etc...)</a:t>
            </a:r>
          </a:p>
          <a:p>
            <a:pPr lvl="2"/>
            <a:endParaRPr lang="es-AR" sz="2400" smtClean="0"/>
          </a:p>
        </p:txBody>
      </p:sp>
      <p:sp>
        <p:nvSpPr>
          <p:cNvPr id="8" name="Título 35"/>
          <p:cNvSpPr>
            <a:spLocks noGrp="1"/>
          </p:cNvSpPr>
          <p:nvPr>
            <p:ph type="title"/>
          </p:nvPr>
        </p:nvSpPr>
        <p:spPr>
          <a:xfrm>
            <a:off x="1371600" y="685800"/>
            <a:ext cx="9601200" cy="1714500"/>
          </a:xfrm>
        </p:spPr>
        <p:txBody>
          <a:bodyPr>
            <a:normAutofit fontScale="90000"/>
          </a:bodyPr>
          <a:lstStyle/>
          <a:p>
            <a:r>
              <a:rPr lang="es-AR" smtClean="0"/>
              <a:t>VPN para dar mayor privacidad a la actividad de usuarios que navegan por Internet</a:t>
            </a:r>
            <a:endParaRPr lang="es-AR"/>
          </a:p>
        </p:txBody>
      </p:sp>
    </p:spTree>
    <p:extLst>
      <p:ext uri="{BB962C8B-B14F-4D97-AF65-F5344CB8AC3E}">
        <p14:creationId xmlns:p14="http://schemas.microsoft.com/office/powerpoint/2010/main" val="8615206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1024256" y="912336"/>
            <a:ext cx="3166744" cy="1477328"/>
          </a:xfrm>
          <a:prstGeom prst="rect">
            <a:avLst/>
          </a:prstGeom>
          <a:noFill/>
        </p:spPr>
        <p:txBody>
          <a:bodyPr wrap="square" rtlCol="0">
            <a:spAutoFit/>
          </a:bodyPr>
          <a:lstStyle/>
          <a:p>
            <a:r>
              <a:rPr lang="es-AR" smtClean="0"/>
              <a:t>El usuario entra a un foro donde expresa sus ideas políticas</a:t>
            </a:r>
          </a:p>
          <a:p>
            <a:r>
              <a:rPr lang="es-AR" smtClean="0"/>
              <a:t>por ejemplo: www.foro.raropolitico.tk</a:t>
            </a:r>
            <a:endParaRPr lang="es-AR"/>
          </a:p>
        </p:txBody>
      </p:sp>
      <p:pic>
        <p:nvPicPr>
          <p:cNvPr id="6" name="Imagen 5"/>
          <p:cNvPicPr>
            <a:picLocks noChangeAspect="1"/>
          </p:cNvPicPr>
          <p:nvPr/>
        </p:nvPicPr>
        <p:blipFill>
          <a:blip r:embed="rId3"/>
          <a:stretch>
            <a:fillRect/>
          </a:stretch>
        </p:blipFill>
        <p:spPr>
          <a:xfrm rot="488470">
            <a:off x="1755632" y="2352370"/>
            <a:ext cx="564634" cy="1692880"/>
          </a:xfrm>
          <a:prstGeom prst="rect">
            <a:avLst/>
          </a:prstGeom>
        </p:spPr>
      </p:pic>
    </p:spTree>
    <p:extLst>
      <p:ext uri="{BB962C8B-B14F-4D97-AF65-F5344CB8AC3E}">
        <p14:creationId xmlns:p14="http://schemas.microsoft.com/office/powerpoint/2010/main" val="7088584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2154556" y="251936"/>
            <a:ext cx="3166744" cy="1477328"/>
          </a:xfrm>
          <a:prstGeom prst="rect">
            <a:avLst/>
          </a:prstGeom>
          <a:noFill/>
        </p:spPr>
        <p:txBody>
          <a:bodyPr wrap="square" rtlCol="0">
            <a:spAutoFit/>
          </a:bodyPr>
          <a:lstStyle/>
          <a:p>
            <a:r>
              <a:rPr lang="es-AR" smtClean="0"/>
              <a:t>El cliente VPN encripta el paquete y pide al servicio de Internet que envíe ese paquete encriptado a WikingVPN services</a:t>
            </a:r>
            <a:endParaRPr lang="es-AR"/>
          </a:p>
        </p:txBody>
      </p:sp>
      <p:pic>
        <p:nvPicPr>
          <p:cNvPr id="6" name="Imagen 5"/>
          <p:cNvPicPr>
            <a:picLocks noChangeAspect="1"/>
          </p:cNvPicPr>
          <p:nvPr/>
        </p:nvPicPr>
        <p:blipFill>
          <a:blip r:embed="rId3"/>
          <a:stretch>
            <a:fillRect/>
          </a:stretch>
        </p:blipFill>
        <p:spPr>
          <a:xfrm rot="488470">
            <a:off x="3152632" y="1682449"/>
            <a:ext cx="564634" cy="1692880"/>
          </a:xfrm>
          <a:prstGeom prst="rect">
            <a:avLst/>
          </a:prstGeom>
        </p:spPr>
      </p:pic>
    </p:spTree>
    <p:extLst>
      <p:ext uri="{BB962C8B-B14F-4D97-AF65-F5344CB8AC3E}">
        <p14:creationId xmlns:p14="http://schemas.microsoft.com/office/powerpoint/2010/main" val="163768311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3914926" y="173672"/>
            <a:ext cx="3166744" cy="923330"/>
          </a:xfrm>
          <a:prstGeom prst="rect">
            <a:avLst/>
          </a:prstGeom>
          <a:noFill/>
        </p:spPr>
        <p:txBody>
          <a:bodyPr wrap="square" rtlCol="0">
            <a:spAutoFit/>
          </a:bodyPr>
          <a:lstStyle/>
          <a:p>
            <a:r>
              <a:rPr lang="es-AR" smtClean="0"/>
              <a:t>TeraNet solo ve un paquete que sale de la PC del abonado hacia Wiking VPN Services</a:t>
            </a:r>
            <a:endParaRPr lang="es-AR"/>
          </a:p>
        </p:txBody>
      </p:sp>
      <p:pic>
        <p:nvPicPr>
          <p:cNvPr id="6" name="Imagen 5"/>
          <p:cNvPicPr>
            <a:picLocks noChangeAspect="1"/>
          </p:cNvPicPr>
          <p:nvPr/>
        </p:nvPicPr>
        <p:blipFill>
          <a:blip r:embed="rId3"/>
          <a:stretch>
            <a:fillRect/>
          </a:stretch>
        </p:blipFill>
        <p:spPr>
          <a:xfrm rot="2644939">
            <a:off x="4420281" y="937491"/>
            <a:ext cx="713947" cy="2140549"/>
          </a:xfrm>
          <a:prstGeom prst="rect">
            <a:avLst/>
          </a:prstGeom>
        </p:spPr>
      </p:pic>
    </p:spTree>
    <p:extLst>
      <p:ext uri="{BB962C8B-B14F-4D97-AF65-F5344CB8AC3E}">
        <p14:creationId xmlns:p14="http://schemas.microsoft.com/office/powerpoint/2010/main" val="3235873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5204185" y="251936"/>
            <a:ext cx="3166744" cy="1200329"/>
          </a:xfrm>
          <a:prstGeom prst="rect">
            <a:avLst/>
          </a:prstGeom>
          <a:noFill/>
        </p:spPr>
        <p:txBody>
          <a:bodyPr wrap="square" rtlCol="0">
            <a:spAutoFit/>
          </a:bodyPr>
          <a:lstStyle/>
          <a:p>
            <a:r>
              <a:rPr lang="es-AR" smtClean="0"/>
              <a:t>WikingVPN entiende la solicitud, ya que dialogan con el método y clave de encriptación en cuestión.</a:t>
            </a:r>
            <a:endParaRPr lang="es-AR"/>
          </a:p>
        </p:txBody>
      </p:sp>
      <p:pic>
        <p:nvPicPr>
          <p:cNvPr id="6" name="Imagen 5"/>
          <p:cNvPicPr>
            <a:picLocks noChangeAspect="1"/>
          </p:cNvPicPr>
          <p:nvPr/>
        </p:nvPicPr>
        <p:blipFill>
          <a:blip r:embed="rId3"/>
          <a:stretch>
            <a:fillRect/>
          </a:stretch>
        </p:blipFill>
        <p:spPr>
          <a:xfrm rot="488470">
            <a:off x="6555973" y="1417473"/>
            <a:ext cx="435152" cy="1304668"/>
          </a:xfrm>
          <a:prstGeom prst="rect">
            <a:avLst/>
          </a:prstGeom>
        </p:spPr>
      </p:pic>
    </p:spTree>
    <p:extLst>
      <p:ext uri="{BB962C8B-B14F-4D97-AF65-F5344CB8AC3E}">
        <p14:creationId xmlns:p14="http://schemas.microsoft.com/office/powerpoint/2010/main" val="41606396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5964878" y="210364"/>
            <a:ext cx="3166744" cy="923330"/>
          </a:xfrm>
          <a:prstGeom prst="rect">
            <a:avLst/>
          </a:prstGeom>
          <a:noFill/>
        </p:spPr>
        <p:txBody>
          <a:bodyPr wrap="square" rtlCol="0">
            <a:spAutoFit/>
          </a:bodyPr>
          <a:lstStyle/>
          <a:p>
            <a:r>
              <a:rPr lang="es-AR" smtClean="0"/>
              <a:t>El entiende que tiene que traer el contenido de www.foro.raropolitico.tk</a:t>
            </a:r>
            <a:endParaRPr lang="es-AR"/>
          </a:p>
        </p:txBody>
      </p:sp>
      <p:pic>
        <p:nvPicPr>
          <p:cNvPr id="6" name="Imagen 5"/>
          <p:cNvPicPr>
            <a:picLocks noChangeAspect="1"/>
          </p:cNvPicPr>
          <p:nvPr/>
        </p:nvPicPr>
        <p:blipFill>
          <a:blip r:embed="rId3"/>
          <a:stretch>
            <a:fillRect/>
          </a:stretch>
        </p:blipFill>
        <p:spPr>
          <a:xfrm rot="488470">
            <a:off x="7344559" y="1154373"/>
            <a:ext cx="371262" cy="1113113"/>
          </a:xfrm>
          <a:prstGeom prst="rect">
            <a:avLst/>
          </a:prstGeom>
        </p:spPr>
      </p:pic>
    </p:spTree>
    <p:extLst>
      <p:ext uri="{BB962C8B-B14F-4D97-AF65-F5344CB8AC3E}">
        <p14:creationId xmlns:p14="http://schemas.microsoft.com/office/powerpoint/2010/main" val="279029343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5827464" y="0"/>
            <a:ext cx="3166744" cy="1477328"/>
          </a:xfrm>
          <a:prstGeom prst="rect">
            <a:avLst/>
          </a:prstGeom>
          <a:noFill/>
        </p:spPr>
        <p:txBody>
          <a:bodyPr wrap="square" rtlCol="0">
            <a:spAutoFit/>
          </a:bodyPr>
          <a:lstStyle/>
          <a:p>
            <a:r>
              <a:rPr lang="es-AR" smtClean="0"/>
              <a:t>Es Wiking VPN quien solicita el contenido, y para foro.raropolitico.tk es Wiking quien oficia de cliente del servicio</a:t>
            </a:r>
            <a:endParaRPr lang="es-AR"/>
          </a:p>
        </p:txBody>
      </p:sp>
      <p:pic>
        <p:nvPicPr>
          <p:cNvPr id="6" name="Imagen 5"/>
          <p:cNvPicPr>
            <a:picLocks noChangeAspect="1"/>
          </p:cNvPicPr>
          <p:nvPr/>
        </p:nvPicPr>
        <p:blipFill>
          <a:blip r:embed="rId3"/>
          <a:stretch>
            <a:fillRect/>
          </a:stretch>
        </p:blipFill>
        <p:spPr>
          <a:xfrm rot="19061535">
            <a:off x="8201911" y="653688"/>
            <a:ext cx="743786" cy="2230010"/>
          </a:xfrm>
          <a:prstGeom prst="rect">
            <a:avLst/>
          </a:prstGeom>
        </p:spPr>
      </p:pic>
    </p:spTree>
    <p:extLst>
      <p:ext uri="{BB962C8B-B14F-4D97-AF65-F5344CB8AC3E}">
        <p14:creationId xmlns:p14="http://schemas.microsoft.com/office/powerpoint/2010/main" val="92769956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5486400" y="0"/>
            <a:ext cx="3507808" cy="1200329"/>
          </a:xfrm>
          <a:prstGeom prst="rect">
            <a:avLst/>
          </a:prstGeom>
          <a:noFill/>
        </p:spPr>
        <p:txBody>
          <a:bodyPr wrap="square" rtlCol="0">
            <a:spAutoFit/>
          </a:bodyPr>
          <a:lstStyle/>
          <a:p>
            <a:r>
              <a:rPr lang="es-AR" smtClean="0"/>
              <a:t>Una vez tiene el contenido solicitado, Wiking lo encripta y lo envía al ISP para que entregue a la PC de su abonado</a:t>
            </a:r>
            <a:endParaRPr lang="es-AR"/>
          </a:p>
        </p:txBody>
      </p:sp>
      <p:pic>
        <p:nvPicPr>
          <p:cNvPr id="6" name="Imagen 5"/>
          <p:cNvPicPr>
            <a:picLocks noChangeAspect="1"/>
          </p:cNvPicPr>
          <p:nvPr/>
        </p:nvPicPr>
        <p:blipFill>
          <a:blip r:embed="rId3"/>
          <a:stretch>
            <a:fillRect/>
          </a:stretch>
        </p:blipFill>
        <p:spPr>
          <a:xfrm rot="1805760">
            <a:off x="6373962" y="1167872"/>
            <a:ext cx="536396" cy="1608217"/>
          </a:xfrm>
          <a:prstGeom prst="rect">
            <a:avLst/>
          </a:prstGeom>
        </p:spPr>
      </p:pic>
    </p:spTree>
    <p:extLst>
      <p:ext uri="{BB962C8B-B14F-4D97-AF65-F5344CB8AC3E}">
        <p14:creationId xmlns:p14="http://schemas.microsoft.com/office/powerpoint/2010/main" val="54549492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2311520" y="196065"/>
            <a:ext cx="3507808" cy="1200329"/>
          </a:xfrm>
          <a:prstGeom prst="rect">
            <a:avLst/>
          </a:prstGeom>
          <a:noFill/>
        </p:spPr>
        <p:txBody>
          <a:bodyPr wrap="square" rtlCol="0">
            <a:spAutoFit/>
          </a:bodyPr>
          <a:lstStyle/>
          <a:p>
            <a:r>
              <a:rPr lang="es-AR" smtClean="0"/>
              <a:t>TeraNet envía los paquetes cifrados a la PC del abonado sin entender mas que es Wiking el que lo envió.</a:t>
            </a:r>
            <a:endParaRPr lang="es-AR"/>
          </a:p>
        </p:txBody>
      </p:sp>
      <p:pic>
        <p:nvPicPr>
          <p:cNvPr id="6" name="Imagen 5"/>
          <p:cNvPicPr>
            <a:picLocks noChangeAspect="1"/>
          </p:cNvPicPr>
          <p:nvPr/>
        </p:nvPicPr>
        <p:blipFill>
          <a:blip r:embed="rId3"/>
          <a:stretch>
            <a:fillRect/>
          </a:stretch>
        </p:blipFill>
        <p:spPr>
          <a:xfrm rot="1805760">
            <a:off x="3295224" y="1428826"/>
            <a:ext cx="666947" cy="1999634"/>
          </a:xfrm>
          <a:prstGeom prst="rect">
            <a:avLst/>
          </a:prstGeom>
        </p:spPr>
      </p:pic>
    </p:spTree>
    <p:extLst>
      <p:ext uri="{BB962C8B-B14F-4D97-AF65-F5344CB8AC3E}">
        <p14:creationId xmlns:p14="http://schemas.microsoft.com/office/powerpoint/2010/main" val="16875907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871856" y="1651000"/>
            <a:ext cx="10448288" cy="3556000"/>
          </a:xfrm>
          <a:prstGeom prst="rect">
            <a:avLst/>
          </a:prstGeom>
        </p:spPr>
      </p:pic>
      <p:sp>
        <p:nvSpPr>
          <p:cNvPr id="4" name="CuadroTexto 3"/>
          <p:cNvSpPr txBox="1"/>
          <p:nvPr/>
        </p:nvSpPr>
        <p:spPr>
          <a:xfrm>
            <a:off x="871856" y="1302434"/>
            <a:ext cx="3507808" cy="923330"/>
          </a:xfrm>
          <a:prstGeom prst="rect">
            <a:avLst/>
          </a:prstGeom>
          <a:noFill/>
        </p:spPr>
        <p:txBody>
          <a:bodyPr wrap="square" rtlCol="0">
            <a:spAutoFit/>
          </a:bodyPr>
          <a:lstStyle/>
          <a:p>
            <a:r>
              <a:rPr lang="es-AR" smtClean="0"/>
              <a:t>PC Casa utiliza los servicios de foro una vez desencriptados los paquetes</a:t>
            </a:r>
            <a:endParaRPr lang="es-AR"/>
          </a:p>
        </p:txBody>
      </p:sp>
      <p:pic>
        <p:nvPicPr>
          <p:cNvPr id="6" name="Imagen 5"/>
          <p:cNvPicPr>
            <a:picLocks noChangeAspect="1"/>
          </p:cNvPicPr>
          <p:nvPr/>
        </p:nvPicPr>
        <p:blipFill>
          <a:blip r:embed="rId3"/>
          <a:stretch>
            <a:fillRect/>
          </a:stretch>
        </p:blipFill>
        <p:spPr>
          <a:xfrm rot="651519">
            <a:off x="1796624" y="2032147"/>
            <a:ext cx="666947" cy="1999634"/>
          </a:xfrm>
          <a:prstGeom prst="rect">
            <a:avLst/>
          </a:prstGeom>
        </p:spPr>
      </p:pic>
    </p:spTree>
    <p:extLst>
      <p:ext uri="{BB962C8B-B14F-4D97-AF65-F5344CB8AC3E}">
        <p14:creationId xmlns:p14="http://schemas.microsoft.com/office/powerpoint/2010/main" val="280468896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pic>
        <p:nvPicPr>
          <p:cNvPr id="3" name="Imagen 2"/>
          <p:cNvPicPr>
            <a:picLocks noChangeAspect="1"/>
          </p:cNvPicPr>
          <p:nvPr/>
        </p:nvPicPr>
        <p:blipFill>
          <a:blip r:embed="rId2"/>
          <a:stretch>
            <a:fillRect/>
          </a:stretch>
        </p:blipFill>
        <p:spPr>
          <a:xfrm>
            <a:off x="948056" y="368300"/>
            <a:ext cx="10448288" cy="3556000"/>
          </a:xfrm>
          <a:prstGeom prst="rect">
            <a:avLst/>
          </a:prstGeom>
        </p:spPr>
      </p:pic>
      <p:sp>
        <p:nvSpPr>
          <p:cNvPr id="4" name="CuadroTexto 3"/>
          <p:cNvSpPr txBox="1"/>
          <p:nvPr/>
        </p:nvSpPr>
        <p:spPr>
          <a:xfrm>
            <a:off x="3479800" y="2587526"/>
            <a:ext cx="8712200" cy="2308324"/>
          </a:xfrm>
          <a:prstGeom prst="rect">
            <a:avLst/>
          </a:prstGeom>
          <a:noFill/>
        </p:spPr>
        <p:txBody>
          <a:bodyPr wrap="square" rtlCol="0">
            <a:spAutoFit/>
          </a:bodyPr>
          <a:lstStyle/>
          <a:p>
            <a:r>
              <a:rPr lang="es-AR" sz="2400" b="1" smtClean="0"/>
              <a:t>Observaciones:</a:t>
            </a:r>
          </a:p>
          <a:p>
            <a:r>
              <a:rPr lang="es-AR" sz="2400" smtClean="0"/>
              <a:t>*La conexión requiere un intermediario EXTRA dentro de Internet (Servicio de VPN)</a:t>
            </a:r>
          </a:p>
          <a:p>
            <a:r>
              <a:rPr lang="es-AR" sz="2400" smtClean="0"/>
              <a:t>*Si un externo logra vulnerar o acceder a los datos del ISP o del servicio publicado en Internet, no podrá ver la actividad de PC Casa mas que un tráfico entre la misma y el servicio de VPN.</a:t>
            </a:r>
          </a:p>
        </p:txBody>
      </p:sp>
    </p:spTree>
    <p:extLst>
      <p:ext uri="{BB962C8B-B14F-4D97-AF65-F5344CB8AC3E}">
        <p14:creationId xmlns:p14="http://schemas.microsoft.com/office/powerpoint/2010/main" val="132247735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ítulo 4"/>
          <p:cNvSpPr>
            <a:spLocks noGrp="1"/>
          </p:cNvSpPr>
          <p:nvPr>
            <p:ph type="title"/>
          </p:nvPr>
        </p:nvSpPr>
        <p:spPr/>
        <p:txBody>
          <a:bodyPr>
            <a:normAutofit fontScale="90000"/>
          </a:bodyPr>
          <a:lstStyle/>
          <a:p>
            <a:r>
              <a:rPr lang="es-AR" smtClean="0"/>
              <a:t>¿Qué pasa si alguien observa la actividad de wiking vpn?</a:t>
            </a:r>
            <a:endParaRPr lang="es-AR"/>
          </a:p>
        </p:txBody>
      </p:sp>
      <p:sp>
        <p:nvSpPr>
          <p:cNvPr id="2" name="Marcador de contenido 1"/>
          <p:cNvSpPr>
            <a:spLocks noGrp="1"/>
          </p:cNvSpPr>
          <p:nvPr>
            <p:ph type="body" idx="1"/>
          </p:nvPr>
        </p:nvSpPr>
        <p:spPr/>
        <p:txBody>
          <a:bodyPr/>
          <a:lstStyle/>
          <a:p>
            <a:pPr marL="0" indent="0">
              <a:buNone/>
            </a:pPr>
            <a:endParaRPr lang="es-AR" smtClean="0"/>
          </a:p>
          <a:p>
            <a:pPr marL="987552" lvl="2" indent="0">
              <a:buNone/>
            </a:pPr>
            <a:endParaRPr lang="es-AR" smtClean="0"/>
          </a:p>
        </p:txBody>
      </p:sp>
    </p:spTree>
    <p:extLst>
      <p:ext uri="{BB962C8B-B14F-4D97-AF65-F5344CB8AC3E}">
        <p14:creationId xmlns:p14="http://schemas.microsoft.com/office/powerpoint/2010/main" val="216879263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2" descr="JCP | Free Full-Text | Tor Hidden Services: A Systematic Literature Review  | HTM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220" y="1183282"/>
            <a:ext cx="7639960" cy="5609404"/>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6"/>
          <p:cNvSpPr>
            <a:spLocks noGrp="1"/>
          </p:cNvSpPr>
          <p:nvPr>
            <p:ph type="title"/>
          </p:nvPr>
        </p:nvSpPr>
        <p:spPr>
          <a:xfrm>
            <a:off x="1255486" y="248741"/>
            <a:ext cx="9601200" cy="1485900"/>
          </a:xfrm>
        </p:spPr>
        <p:txBody>
          <a:bodyPr>
            <a:normAutofit fontScale="90000"/>
          </a:bodyPr>
          <a:lstStyle/>
          <a:p>
            <a:r>
              <a:rPr lang="es-AR"/>
              <a:t>ALTERNATIVA DE PRIVACIDAD SIN VPN: Usar una red de </a:t>
            </a:r>
            <a:r>
              <a:rPr lang="es-AR" smtClean="0"/>
              <a:t>proxys para la navegación</a:t>
            </a:r>
            <a:r>
              <a:rPr lang="es-AR"/>
              <a:t/>
            </a:r>
            <a:br>
              <a:rPr lang="es-AR"/>
            </a:br>
            <a:endParaRPr lang="es-AR"/>
          </a:p>
        </p:txBody>
      </p:sp>
      <p:sp>
        <p:nvSpPr>
          <p:cNvPr id="2" name="Marcador de contenido 1"/>
          <p:cNvSpPr>
            <a:spLocks noGrp="1"/>
          </p:cNvSpPr>
          <p:nvPr>
            <p:ph idx="1"/>
          </p:nvPr>
        </p:nvSpPr>
        <p:spPr/>
        <p:txBody>
          <a:bodyPr/>
          <a:lstStyle/>
          <a:p>
            <a:pPr marL="0" indent="0">
              <a:buNone/>
            </a:pPr>
            <a:endParaRPr lang="es-AR" smtClean="0"/>
          </a:p>
          <a:p>
            <a:pPr marL="987552" lvl="2" indent="0">
              <a:buNone/>
            </a:pPr>
            <a:endParaRPr lang="es-AR" smtClean="0"/>
          </a:p>
        </p:txBody>
      </p:sp>
    </p:spTree>
    <p:extLst>
      <p:ext uri="{BB962C8B-B14F-4D97-AF65-F5344CB8AC3E}">
        <p14:creationId xmlns:p14="http://schemas.microsoft.com/office/powerpoint/2010/main" val="21050781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ítulo 4"/>
          <p:cNvSpPr>
            <a:spLocks noGrp="1"/>
          </p:cNvSpPr>
          <p:nvPr>
            <p:ph type="title"/>
          </p:nvPr>
        </p:nvSpPr>
        <p:spPr/>
        <p:txBody>
          <a:bodyPr>
            <a:normAutofit fontScale="90000"/>
          </a:bodyPr>
          <a:lstStyle/>
          <a:p>
            <a:r>
              <a:rPr lang="es-AR" smtClean="0"/>
              <a:t>¿qué pasa si alguien observa la actividad de la red tor?</a:t>
            </a:r>
            <a:endParaRPr lang="es-AR"/>
          </a:p>
        </p:txBody>
      </p:sp>
      <p:sp>
        <p:nvSpPr>
          <p:cNvPr id="2" name="Marcador de contenido 1"/>
          <p:cNvSpPr>
            <a:spLocks noGrp="1"/>
          </p:cNvSpPr>
          <p:nvPr>
            <p:ph type="body" idx="1"/>
          </p:nvPr>
        </p:nvSpPr>
        <p:spPr/>
        <p:txBody>
          <a:bodyPr/>
          <a:lstStyle/>
          <a:p>
            <a:pPr marL="0" indent="0">
              <a:buNone/>
            </a:pPr>
            <a:endParaRPr lang="es-AR" smtClean="0"/>
          </a:p>
          <a:p>
            <a:pPr marL="987552" lvl="2" indent="0">
              <a:buNone/>
            </a:pPr>
            <a:endParaRPr lang="es-AR" smtClean="0"/>
          </a:p>
        </p:txBody>
      </p:sp>
    </p:spTree>
    <p:extLst>
      <p:ext uri="{BB962C8B-B14F-4D97-AF65-F5344CB8AC3E}">
        <p14:creationId xmlns:p14="http://schemas.microsoft.com/office/powerpoint/2010/main" val="57666972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ítulo 4"/>
          <p:cNvSpPr>
            <a:spLocks noGrp="1"/>
          </p:cNvSpPr>
          <p:nvPr>
            <p:ph type="title"/>
          </p:nvPr>
        </p:nvSpPr>
        <p:spPr>
          <a:xfrm>
            <a:off x="765025" y="1301360"/>
            <a:ext cx="9612971" cy="4058292"/>
          </a:xfrm>
        </p:spPr>
        <p:txBody>
          <a:bodyPr>
            <a:normAutofit fontScale="90000"/>
          </a:bodyPr>
          <a:lstStyle/>
          <a:p>
            <a:r>
              <a:rPr lang="es-AR" smtClean="0"/>
              <a:t>también es posible pero es descentralizada y dificultosa de seguir</a:t>
            </a:r>
            <a:endParaRPr lang="es-AR"/>
          </a:p>
        </p:txBody>
      </p:sp>
      <p:sp>
        <p:nvSpPr>
          <p:cNvPr id="2" name="Marcador de contenido 1"/>
          <p:cNvSpPr>
            <a:spLocks noGrp="1"/>
          </p:cNvSpPr>
          <p:nvPr>
            <p:ph type="body" idx="1"/>
          </p:nvPr>
        </p:nvSpPr>
        <p:spPr/>
        <p:txBody>
          <a:bodyPr/>
          <a:lstStyle/>
          <a:p>
            <a:pPr marL="0" indent="0">
              <a:buNone/>
            </a:pPr>
            <a:endParaRPr lang="es-AR" smtClean="0"/>
          </a:p>
          <a:p>
            <a:pPr marL="987552" lvl="2" indent="0">
              <a:buNone/>
            </a:pPr>
            <a:endParaRPr lang="es-AR" smtClean="0"/>
          </a:p>
        </p:txBody>
      </p:sp>
    </p:spTree>
    <p:extLst>
      <p:ext uri="{BB962C8B-B14F-4D97-AF65-F5344CB8AC3E}">
        <p14:creationId xmlns:p14="http://schemas.microsoft.com/office/powerpoint/2010/main" val="314691877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ítulo 4"/>
          <p:cNvSpPr>
            <a:spLocks noGrp="1"/>
          </p:cNvSpPr>
          <p:nvPr>
            <p:ph type="title"/>
          </p:nvPr>
        </p:nvSpPr>
        <p:spPr>
          <a:xfrm>
            <a:off x="765025" y="812800"/>
            <a:ext cx="9612971" cy="4546852"/>
          </a:xfrm>
        </p:spPr>
        <p:txBody>
          <a:bodyPr>
            <a:normAutofit fontScale="90000"/>
          </a:bodyPr>
          <a:lstStyle/>
          <a:p>
            <a:r>
              <a:rPr lang="es-AR" smtClean="0"/>
              <a:t>mucho (¡MUCHÍSIMO!) mas lenta por la cantidad de saltos y el flujo dinámico entre servidores</a:t>
            </a:r>
            <a:endParaRPr lang="es-AR"/>
          </a:p>
        </p:txBody>
      </p:sp>
      <p:sp>
        <p:nvSpPr>
          <p:cNvPr id="2" name="Marcador de contenido 1"/>
          <p:cNvSpPr>
            <a:spLocks noGrp="1"/>
          </p:cNvSpPr>
          <p:nvPr>
            <p:ph type="body" idx="1"/>
          </p:nvPr>
        </p:nvSpPr>
        <p:spPr/>
        <p:txBody>
          <a:bodyPr/>
          <a:lstStyle/>
          <a:p>
            <a:pPr marL="0" indent="0">
              <a:buNone/>
            </a:pPr>
            <a:endParaRPr lang="es-AR" smtClean="0"/>
          </a:p>
          <a:p>
            <a:pPr marL="987552" lvl="2" indent="0">
              <a:buNone/>
            </a:pPr>
            <a:endParaRPr lang="es-AR" smtClean="0"/>
          </a:p>
        </p:txBody>
      </p:sp>
    </p:spTree>
    <p:extLst>
      <p:ext uri="{BB962C8B-B14F-4D97-AF65-F5344CB8AC3E}">
        <p14:creationId xmlns:p14="http://schemas.microsoft.com/office/powerpoint/2010/main" val="217760797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ítulo 35"/>
          <p:cNvSpPr>
            <a:spLocks noGrp="1"/>
          </p:cNvSpPr>
          <p:nvPr>
            <p:ph type="title"/>
          </p:nvPr>
        </p:nvSpPr>
        <p:spPr/>
        <p:txBody>
          <a:bodyPr/>
          <a:lstStyle/>
          <a:p>
            <a:r>
              <a:rPr lang="es-AR" smtClean="0"/>
              <a:t>Material de lectura</a:t>
            </a:r>
            <a:endParaRPr lang="es-AR"/>
          </a:p>
        </p:txBody>
      </p:sp>
      <p:sp>
        <p:nvSpPr>
          <p:cNvPr id="2" name="Marcador de contenido 1"/>
          <p:cNvSpPr>
            <a:spLocks noGrp="1"/>
          </p:cNvSpPr>
          <p:nvPr>
            <p:ph idx="1"/>
          </p:nvPr>
        </p:nvSpPr>
        <p:spPr>
          <a:xfrm>
            <a:off x="952500" y="1689100"/>
            <a:ext cx="11239500" cy="5080000"/>
          </a:xfrm>
        </p:spPr>
        <p:txBody>
          <a:bodyPr>
            <a:normAutofit/>
          </a:bodyPr>
          <a:lstStyle/>
          <a:p>
            <a:r>
              <a:rPr lang="es-AR" b="1" smtClean="0"/>
              <a:t>Bibliografía: </a:t>
            </a:r>
          </a:p>
          <a:p>
            <a:pPr lvl="1"/>
            <a:r>
              <a:rPr lang="es-AR" smtClean="0"/>
              <a:t>Tanenbaum Redes de Computadoras</a:t>
            </a:r>
          </a:p>
          <a:p>
            <a:pPr lvl="1"/>
            <a:r>
              <a:rPr lang="es-AR" smtClean="0"/>
              <a:t>Material online:</a:t>
            </a:r>
          </a:p>
          <a:p>
            <a:pPr lvl="2"/>
            <a:r>
              <a:rPr lang="es-AR">
                <a:hlinkClick r:id="rId2"/>
              </a:rPr>
              <a:t>https://</a:t>
            </a:r>
            <a:r>
              <a:rPr lang="es-AR" smtClean="0">
                <a:hlinkClick r:id="rId2"/>
              </a:rPr>
              <a:t>developer.mozilla.org/es/docs/Learn/Common_questions/What_is_a_domain_name</a:t>
            </a:r>
            <a:r>
              <a:rPr lang="es-AR" smtClean="0"/>
              <a:t> (¿Cómo funciona la web?)</a:t>
            </a:r>
          </a:p>
          <a:p>
            <a:pPr lvl="2"/>
            <a:r>
              <a:rPr lang="es-AR">
                <a:hlinkClick r:id="rId2"/>
              </a:rPr>
              <a:t>https://</a:t>
            </a:r>
            <a:r>
              <a:rPr lang="es-AR" smtClean="0">
                <a:hlinkClick r:id="rId2"/>
              </a:rPr>
              <a:t>developer.mozilla.org/es/docs/Learn/Common_questions/What_is_a_domain_name</a:t>
            </a:r>
            <a:r>
              <a:rPr lang="es-AR" smtClean="0"/>
              <a:t> (¿Qué es un Nombre de Dominio?)</a:t>
            </a:r>
            <a:endParaRPr lang="es-AR"/>
          </a:p>
          <a:p>
            <a:pPr lvl="2"/>
            <a:r>
              <a:rPr lang="es-AR">
                <a:hlinkClick r:id="rId3"/>
              </a:rPr>
              <a:t>https://</a:t>
            </a:r>
            <a:r>
              <a:rPr lang="es-AR" smtClean="0">
                <a:hlinkClick r:id="rId3"/>
              </a:rPr>
              <a:t>developer.mozilla.org/es/docs/Web/HTTP/Overview</a:t>
            </a:r>
            <a:r>
              <a:rPr lang="es-AR" smtClean="0"/>
              <a:t> (HTTP)</a:t>
            </a:r>
          </a:p>
          <a:p>
            <a:pPr lvl="2"/>
            <a:r>
              <a:rPr lang="es-AR">
                <a:hlinkClick r:id="rId4"/>
              </a:rPr>
              <a:t>https://httpwg.org/specs</a:t>
            </a:r>
            <a:r>
              <a:rPr lang="es-AR" smtClean="0">
                <a:hlinkClick r:id="rId4"/>
              </a:rPr>
              <a:t>/</a:t>
            </a:r>
            <a:r>
              <a:rPr lang="es-AR" smtClean="0"/>
              <a:t> (Sitio oficial de HTTP en inglés)</a:t>
            </a:r>
          </a:p>
          <a:p>
            <a:pPr lvl="2"/>
            <a:r>
              <a:rPr lang="es-AR">
                <a:hlinkClick r:id="rId5"/>
              </a:rPr>
              <a:t>https://latam.kaspersky.com/resource-center/definitions/firewall</a:t>
            </a:r>
            <a:r>
              <a:rPr lang="es-AR"/>
              <a:t> (Firewalls</a:t>
            </a:r>
            <a:r>
              <a:rPr lang="es-AR" smtClean="0"/>
              <a:t>)</a:t>
            </a:r>
            <a:endParaRPr lang="es-AR"/>
          </a:p>
          <a:p>
            <a:pPr lvl="2"/>
            <a:r>
              <a:rPr lang="es-AR">
                <a:hlinkClick r:id="rId6"/>
              </a:rPr>
              <a:t>https://</a:t>
            </a:r>
            <a:r>
              <a:rPr lang="es-AR" smtClean="0">
                <a:hlinkClick r:id="rId6"/>
              </a:rPr>
              <a:t>www.kaspersky.es/resource-center/definitions/what-is-a-vpn</a:t>
            </a:r>
            <a:r>
              <a:rPr lang="es-AR" smtClean="0"/>
              <a:t> (¿Qué es una VPN?)</a:t>
            </a:r>
            <a:endParaRPr lang="es-AR"/>
          </a:p>
          <a:p>
            <a:pPr lvl="2"/>
            <a:r>
              <a:rPr lang="es-AR" smtClean="0">
                <a:hlinkClick r:id="rId7"/>
              </a:rPr>
              <a:t>https</a:t>
            </a:r>
            <a:r>
              <a:rPr lang="es-AR">
                <a:hlinkClick r:id="rId7"/>
              </a:rPr>
              <a:t>://www.wireguard.com</a:t>
            </a:r>
            <a:r>
              <a:rPr lang="es-AR" smtClean="0">
                <a:hlinkClick r:id="rId7"/>
              </a:rPr>
              <a:t>/</a:t>
            </a:r>
            <a:r>
              <a:rPr lang="es-AR" smtClean="0"/>
              <a:t> (Sitio oficial de Wireguard VPN)</a:t>
            </a:r>
          </a:p>
          <a:p>
            <a:pPr lvl="2"/>
            <a:r>
              <a:rPr lang="es-AR">
                <a:hlinkClick r:id="rId8"/>
              </a:rPr>
              <a:t>https://openvpn.net</a:t>
            </a:r>
            <a:r>
              <a:rPr lang="es-AR" smtClean="0">
                <a:hlinkClick r:id="rId8"/>
              </a:rPr>
              <a:t>/</a:t>
            </a:r>
            <a:r>
              <a:rPr lang="es-AR" smtClean="0"/>
              <a:t> (Sitio oficial de Openvpn)</a:t>
            </a:r>
          </a:p>
          <a:p>
            <a:pPr lvl="2"/>
            <a:r>
              <a:rPr lang="es-AR">
                <a:hlinkClick r:id="rId9"/>
              </a:rPr>
              <a:t>https://www.torproject.org</a:t>
            </a:r>
            <a:r>
              <a:rPr lang="es-AR" smtClean="0">
                <a:hlinkClick r:id="rId9"/>
              </a:rPr>
              <a:t>/</a:t>
            </a:r>
            <a:r>
              <a:rPr lang="es-AR" smtClean="0"/>
              <a:t> (Web oficial proyecto TOR)</a:t>
            </a:r>
            <a:endParaRPr lang="es-AR"/>
          </a:p>
        </p:txBody>
      </p:sp>
    </p:spTree>
    <p:extLst>
      <p:ext uri="{BB962C8B-B14F-4D97-AF65-F5344CB8AC3E}">
        <p14:creationId xmlns:p14="http://schemas.microsoft.com/office/powerpoint/2010/main" val="209561093"/>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TM10001105[[fn=Recorte]]</Template>
  <TotalTime>2458</TotalTime>
  <Words>2048</Words>
  <Application>Microsoft Office PowerPoint</Application>
  <PresentationFormat>Panorámica</PresentationFormat>
  <Paragraphs>229</Paragraphs>
  <Slides>71</Slides>
  <Notes>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71</vt:i4>
      </vt:variant>
    </vt:vector>
  </HeadingPairs>
  <TitlesOfParts>
    <vt:vector size="73" baseType="lpstr">
      <vt:lpstr>Franklin Gothic Book</vt:lpstr>
      <vt:lpstr>Crop</vt:lpstr>
      <vt:lpstr>Introducción a Redes</vt:lpstr>
      <vt:lpstr>Interacción de equipamiento en red</vt:lpstr>
      <vt:lpstr>Interacción de equipamiento en red</vt:lpstr>
      <vt:lpstr>Modelos OSI y TCP/IP</vt:lpstr>
      <vt:lpstr>Presentación de PowerPoint</vt:lpstr>
      <vt:lpstr>Tipos de redes</vt:lpstr>
      <vt:lpstr>Capa de Enlace</vt:lpstr>
      <vt:lpstr>Capa de Enlace</vt:lpstr>
      <vt:lpstr>Ethernet</vt:lpstr>
      <vt:lpstr>Capa de Red (Network/Internet Layer)</vt:lpstr>
      <vt:lpstr>Capa de Red (Network/Internet Layer)</vt:lpstr>
      <vt:lpstr>Capa de Red (Network/Internet Layer)</vt:lpstr>
      <vt:lpstr>Capa de Red (Network/Internet Layer)</vt:lpstr>
      <vt:lpstr>Ejemplo de configuración de adaptador de red (NIC)</vt:lpstr>
      <vt:lpstr>Ejemplo de configuración de adaptador de red (NIC)</vt:lpstr>
      <vt:lpstr>Ejemplo de configuración de adaptador de red (NIC)</vt:lpstr>
      <vt:lpstr>¿Cómo se lée una dirección IP?</vt:lpstr>
      <vt:lpstr>¿Cómo se lée una dirección IP?</vt:lpstr>
      <vt:lpstr>¿Cómo se lée una dirección IP?</vt:lpstr>
      <vt:lpstr>¿Cómo se lée una dirección IP?</vt:lpstr>
      <vt:lpstr>¿Cómo se asigna una IP a una red?</vt:lpstr>
      <vt:lpstr>¿Cómo se asigna una IP a una red?</vt:lpstr>
      <vt:lpstr>¿Cómo se asigna una IP a una red?</vt:lpstr>
      <vt:lpstr>Capa de Aplicación y Transporte</vt:lpstr>
      <vt:lpstr>TCP</vt:lpstr>
      <vt:lpstr>CAPA DE TRANSPORTE Control de Flujo</vt:lpstr>
      <vt:lpstr>Presentación de PowerPoint</vt:lpstr>
      <vt:lpstr>Presentación de PowerPoint</vt:lpstr>
      <vt:lpstr>Presentación de PowerPoint</vt:lpstr>
      <vt:lpstr>DNS (Domain Name System)</vt:lpstr>
      <vt:lpstr>Presentación de PowerPoint</vt:lpstr>
      <vt:lpstr>Presentación de PowerPoint</vt:lpstr>
      <vt:lpstr>Presentación de PowerPoint</vt:lpstr>
      <vt:lpstr>Presentación de PowerPoint</vt:lpstr>
      <vt:lpstr>Presentación de PowerPoint</vt:lpstr>
      <vt:lpstr>Pero ¿cómo lo hace tan rápido cuando navegamos?</vt:lpstr>
      <vt:lpstr>Se “cachea” para no tener que resolver constantemente</vt:lpstr>
      <vt:lpstr>Presentación de PowerPoint</vt:lpstr>
      <vt:lpstr>Presentación de PowerPoint</vt:lpstr>
      <vt:lpstr>El Protocolo HTTP</vt:lpstr>
      <vt:lpstr>DHCP (Dynamic Host Configuration Protocol)</vt:lpstr>
      <vt:lpstr>DHCP Direcciones APIPA (Automatic Private IP Addressing)</vt:lpstr>
      <vt:lpstr>Firewalls</vt:lpstr>
      <vt:lpstr>Firewalls</vt:lpstr>
      <vt:lpstr>Firewalls</vt:lpstr>
      <vt:lpstr>Firewalls</vt:lpstr>
      <vt:lpstr>Firewalls</vt:lpstr>
      <vt:lpstr>Firewalls</vt:lpstr>
      <vt:lpstr>Presentación de PowerPoint</vt:lpstr>
      <vt:lpstr>VPN</vt:lpstr>
      <vt:lpstr>VPN para extender red local mediante Internet</vt:lpstr>
      <vt:lpstr>VPN para extender red local mediante Internet</vt:lpstr>
      <vt:lpstr>VPN para extender red local mediante Internet</vt:lpstr>
      <vt:lpstr>VPN para dar mayor privacidad a la actividad de usuarios que navegan por Internet</vt:lpstr>
      <vt:lpstr>VPN para dar mayor privacidad a la actividad de usuarios que navegan por Internet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¿Qué pasa si alguien observa la actividad de wiking vpn?</vt:lpstr>
      <vt:lpstr>ALTERNATIVA DE PRIVACIDAD SIN VPN: Usar una red de proxys para la navegación </vt:lpstr>
      <vt:lpstr>¿qué pasa si alguien observa la actividad de la red tor?</vt:lpstr>
      <vt:lpstr>también es posible pero es descentralizada y dificultosa de seguir</vt:lpstr>
      <vt:lpstr>mucho (¡MUCHÍSIMO!) mas lenta por la cantidad de saltos y el flujo dinámico entre servidores</vt:lpstr>
      <vt:lpstr>Material de lectura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DAAS</dc:creator>
  <cp:lastModifiedBy>DAAS</cp:lastModifiedBy>
  <cp:revision>105</cp:revision>
  <dcterms:created xsi:type="dcterms:W3CDTF">2022-10-13T15:35:37Z</dcterms:created>
  <dcterms:modified xsi:type="dcterms:W3CDTF">2024-05-28T15:50:41Z</dcterms:modified>
</cp:coreProperties>
</file>